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54812338bc4f83" /><Relationship Type="http://schemas.openxmlformats.org/officeDocument/2006/relationships/extended-properties" Target="/docProps/app.xml" Id="R61c70e1d11ea4dd0" /><Relationship Type="http://schemas.openxmlformats.org/officeDocument/2006/relationships/officeDocument" Target="/ppt/presentation.xml" Id="Rbeee02b31fbc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9a53ad39db4e5e"/>
  </p:sldMasterIdLst>
  <p:notesMasterIdLst>
    <p:notesMasterId xmlns:r="http://schemas.openxmlformats.org/officeDocument/2006/relationships" r:id="Racf08759782d435a"/>
  </p:notesMasterIdLst>
  <p:sldIdLst>
    <p:sldId xmlns:r="http://schemas.openxmlformats.org/officeDocument/2006/relationships" id="256" r:id="Re5ba60364e02416d"/>
    <p:sldId xmlns:r="http://schemas.openxmlformats.org/officeDocument/2006/relationships" id="257" r:id="R342c69c19a714709"/>
    <p:sldId xmlns:r="http://schemas.openxmlformats.org/officeDocument/2006/relationships" id="258" r:id="R5b4802f0df9d45ff"/>
    <p:sldId xmlns:r="http://schemas.openxmlformats.org/officeDocument/2006/relationships" id="259" r:id="R46dee2c32ae8499f"/>
    <p:sldId xmlns:r="http://schemas.openxmlformats.org/officeDocument/2006/relationships" id="260" r:id="Ra0186017b44d486e"/>
    <p:sldId xmlns:r="http://schemas.openxmlformats.org/officeDocument/2006/relationships" id="261" r:id="Rc211b8896a3546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61c016d9564802" /><Relationship Type="http://schemas.openxmlformats.org/officeDocument/2006/relationships/slideMaster" Target="/ppt/slideMasters/slideMaster1.xml" Id="R259a53ad39db4e5e" /><Relationship Type="http://schemas.openxmlformats.org/officeDocument/2006/relationships/notesMaster" Target="/ppt/notesMasters/notesMaster1.xml" Id="Racf08759782d435a" /><Relationship Type="http://schemas.openxmlformats.org/officeDocument/2006/relationships/presProps" Target="/ppt/presProps.xml" Id="R7a984870bcbf4760" /><Relationship Type="http://schemas.openxmlformats.org/officeDocument/2006/relationships/tableStyles" Target="/ppt/tableStyles.xml" Id="R382d9ce2f2024de3" /><Relationship Type="http://schemas.openxmlformats.org/officeDocument/2006/relationships/slide" Target="/ppt/slides/slide1.xml" Id="Re5ba60364e02416d" /><Relationship Type="http://schemas.openxmlformats.org/officeDocument/2006/relationships/slide" Target="/ppt/slides/slide2.xml" Id="R342c69c19a714709" /><Relationship Type="http://schemas.openxmlformats.org/officeDocument/2006/relationships/slide" Target="/ppt/slides/slide3.xml" Id="R5b4802f0df9d45ff" /><Relationship Type="http://schemas.openxmlformats.org/officeDocument/2006/relationships/slide" Target="/ppt/slides/slide4.xml" Id="R46dee2c32ae8499f" /><Relationship Type="http://schemas.openxmlformats.org/officeDocument/2006/relationships/slide" Target="/ppt/slides/slide5.xml" Id="Ra0186017b44d486e" /><Relationship Type="http://schemas.openxmlformats.org/officeDocument/2006/relationships/slide" Target="/ppt/slides/slide6.xml" Id="Rc211b8896a3546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0c62a1c5b645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902027712b4487" /><Relationship Type="http://schemas.openxmlformats.org/officeDocument/2006/relationships/notesMaster" Target="/ppt/notesMasters/notesMaster1.xml" Id="R676093df87f242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9f66b244764445" /><Relationship Type="http://schemas.openxmlformats.org/officeDocument/2006/relationships/notesMaster" Target="/ppt/notesMasters/notesMaster1.xml" Id="R825f493f842c4b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d87b38605b471c" /><Relationship Type="http://schemas.openxmlformats.org/officeDocument/2006/relationships/notesMaster" Target="/ppt/notesMasters/notesMaster1.xml" Id="R0627d6935e984f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69cd64fc948b3" /><Relationship Type="http://schemas.openxmlformats.org/officeDocument/2006/relationships/notesMaster" Target="/ppt/notesMasters/notesMaster1.xml" Id="R19192dc9d95245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6fb6a74d6542e5" /><Relationship Type="http://schemas.openxmlformats.org/officeDocument/2006/relationships/notesMaster" Target="/ppt/notesMasters/notesMaster1.xml" Id="R6a521edb8f114e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de6901363a40bf" /><Relationship Type="http://schemas.openxmlformats.org/officeDocument/2006/relationships/notesMaster" Target="/ppt/notesMasters/notesMaster1.xml" Id="R5ea79b490b25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7a880356143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03788a99814190" /><Relationship Type="http://schemas.openxmlformats.org/officeDocument/2006/relationships/slideLayout" Target="/ppt/slideLayouts/slideLayout1.xml" Id="Rcfa4196a21254d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a4196a21254d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5a50980a94ab0" /><Relationship Type="http://schemas.openxmlformats.org/officeDocument/2006/relationships/image" Target="/ppt/media/image.png" Id="R107228775f6849b5" /><Relationship Type="http://schemas.openxmlformats.org/officeDocument/2006/relationships/notesSlide" Target="/ppt/notesSlides/notesSlide1.xml" Id="Rb456517c213149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add009f584beb" /><Relationship Type="http://schemas.openxmlformats.org/officeDocument/2006/relationships/notesSlide" Target="/ppt/notesSlides/notesSlide2.xml" Id="R9f672200e35a46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8996309c24ad8" /><Relationship Type="http://schemas.openxmlformats.org/officeDocument/2006/relationships/notesSlide" Target="/ppt/notesSlides/notesSlide3.xml" Id="Rb7ec4b29d11446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7ecce005748fb" /><Relationship Type="http://schemas.openxmlformats.org/officeDocument/2006/relationships/notesSlide" Target="/ppt/notesSlides/notesSlide4.xml" Id="R17e2e3754fd543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1a564a5884d0c" /><Relationship Type="http://schemas.openxmlformats.org/officeDocument/2006/relationships/notesSlide" Target="/ppt/notesSlides/notesSlide5.xml" Id="R10954d0e93544e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4e73bc29747c0" /><Relationship Type="http://schemas.openxmlformats.org/officeDocument/2006/relationships/notesSlide" Target="/ppt/notesSlides/notesSlide6.xml" Id="R0b73c02c416949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E55007B-31BB-4D54-82DA-91B72E7A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VIBERANO 2026 / ESCUADRÓN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F8586-E32E-442D-BA56-01BF0D12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9382185-CA4B-4B12-8C0D-8A57011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238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KeyOps</a:t>
            </a:r>
          </a:p>
          <a:p xmlns:a="http://schemas.openxmlformats.org/drawingml/2006/main">
            <a:pPr algn="l">
              <a:buNone/>
              <a:defRPr sz="3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Credenciales API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4A82B3D-3291-4CF6-8559-67D3E5A2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Una propuesta para emitir, renovar y controlar certificados sin exponer la base de datos.</a:t>
            </a:r>
          </a:p>
        </p:txBody>
      </p:sp>
      <p:sp>
        <p:nvSpPr>
          <p:cNvPr id="5" name="cover-authors">
            <a:extLst xmlns:a="http://schemas.openxmlformats.org/drawingml/2006/main">
              <a:ext uri="{FF2B5EF4-FFF2-40B4-BE49-F238E27FC236}">
                <a16:creationId xmlns:a16="http://schemas.microsoft.com/office/drawing/2014/main" id="{A30F0714-17D9-4B54-B56E-F55667C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Guillermo López Zarrabeitia &amp; Brigith García</a:t>
            </a:r>
          </a:p>
        </p:txBody>
      </p:sp>
      <p:sp>
        <p:nvSpPr>
          <p:cNvPr id="6" name="pill">
            <a:extLst xmlns:a="http://schemas.openxmlformats.org/drawingml/2006/main">
              <a:ext uri="{FF2B5EF4-FFF2-40B4-BE49-F238E27FC236}">
                <a16:creationId xmlns:a16="http://schemas.microsoft.com/office/drawing/2014/main" id="{54797B2C-AB9E-4AFE-B9A2-A6AC503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390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l-label">
            <a:extLst xmlns:a="http://schemas.openxmlformats.org/drawingml/2006/main">
              <a:ext uri="{FF2B5EF4-FFF2-40B4-BE49-F238E27FC236}">
                <a16:creationId xmlns:a16="http://schemas.microsoft.com/office/drawing/2014/main" id="{75DA5516-26EA-4611-8D3F-CB71983F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LEAN CANVAS</a:t>
            </a:r>
          </a:p>
        </p:txBody>
      </p:sp>
      <p:sp>
        <p:nvSpPr>
          <p:cNvPr id="8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5C4BFA7C-25AE-4660-9E0B-A383CC2E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4350"/>
            <a:ext cx="5353050" cy="582930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228775f6849b5"/>
          <a:srcRect xmlns:a="http://schemas.openxmlformats.org/drawingml/2006/main" l="4085" t="0" r="40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514350"/>
            <a:ext cx="5353050" cy="58293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67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2">
            <a:extLst xmlns:a="http://schemas.openxmlformats.org/drawingml/2006/main">
              <a:ext uri="{FF2B5EF4-FFF2-40B4-BE49-F238E27FC236}">
                <a16:creationId xmlns:a16="http://schemas.microsoft.com/office/drawing/2014/main" id="{1327847B-8002-4DB5-9135-AB028732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EL PROBLEMA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CB57199F-D0A2-4DED-A34D-C66B029E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D8912-1742-40EC-A105-F493F917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0F8B71-41AB-4BC6-825C-5A238FC5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La emisión actual no escala con las integraciones.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ADB010D-95AA-424A-9230-26E2FDA2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Cada nueva aplicación requiere una credencial; cada caducidad reabre una cadena manual.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DDE8D-E677-4085-9882-C6DD4C33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dot-1">
            <a:extLst xmlns:a="http://schemas.openxmlformats.org/drawingml/2006/main">
              <a:ext uri="{FF2B5EF4-FFF2-40B4-BE49-F238E27FC236}">
                <a16:creationId xmlns:a16="http://schemas.microsoft.com/office/drawing/2014/main" id="{FC1C0AF2-8410-4891-A0D4-4E65A1E1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CC965C6C-9030-4F2A-8B56-A31A6B9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59B2255E-B69F-45D0-B66B-55935505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Solicitud</a:t>
            </a:r>
          </a:p>
        </p:txBody>
      </p:sp>
      <p:sp>
        <p:nvSpPr>
          <p:cNvPr id="10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4CE744BF-2ECE-4F83-8DD6-4636B4A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Analistas e instituciones dependen de una petición manual para iniciar el proceso.</a:t>
            </a:r>
          </a:p>
        </p:txBody>
      </p:sp>
      <p:sp>
        <p:nvSpPr>
          <p:cNvPr id="11" name="stage-dot-2">
            <a:extLst xmlns:a="http://schemas.openxmlformats.org/drawingml/2006/main">
              <a:ext uri="{FF2B5EF4-FFF2-40B4-BE49-F238E27FC236}">
                <a16:creationId xmlns:a16="http://schemas.microsoft.com/office/drawing/2014/main" id="{BA70C152-9DA2-43A3-BFF9-7FDC089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553022FE-4E13-4CA2-B62F-0C23429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496DA1A4-3152-48CD-82FC-B6C2025D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Backoffice técnico</a:t>
            </a:r>
          </a:p>
        </p:txBody>
      </p:sp>
      <p:sp>
        <p:nvSpPr>
          <p:cNvPr id="14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6D8022F8-0E15-42C0-A6D6-6FBB12A1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El equipo técnico entra en la base de datos para generar y extraer la credencial.</a:t>
            </a:r>
          </a:p>
        </p:txBody>
      </p:sp>
      <p:sp>
        <p:nvSpPr>
          <p:cNvPr id="15" name="stage-dot-3">
            <a:extLst xmlns:a="http://schemas.openxmlformats.org/drawingml/2006/main">
              <a:ext uri="{FF2B5EF4-FFF2-40B4-BE49-F238E27FC236}">
                <a16:creationId xmlns:a16="http://schemas.microsoft.com/office/drawing/2014/main" id="{D4B1D475-3335-4A45-B2C5-068DBAE8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539E6A07-F253-496B-93D7-6A1C38F9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FA0F0820-618B-4527-8579-C725052C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Entrega y renovación</a:t>
            </a:r>
          </a:p>
        </p:txBody>
      </p:sp>
      <p:sp>
        <p:nvSpPr>
          <p:cNvPr id="18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EC10B314-8095-4CCB-800D-B37BF8A0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La institución espera; las caducidades repiten el trabajo y aumentan el riesgo.</a:t>
            </a:r>
          </a:p>
        </p:txBody>
      </p:sp>
      <p:sp>
        <p:nvSpPr>
          <p:cNvPr id="19" name="pill">
            <a:extLst xmlns:a="http://schemas.openxmlformats.org/drawingml/2006/main">
              <a:ext uri="{FF2B5EF4-FFF2-40B4-BE49-F238E27FC236}">
                <a16:creationId xmlns:a16="http://schemas.microsoft.com/office/drawing/2014/main" id="{FBBEC825-E9F4-41E8-AFA4-F9A9D38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1524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ill-label">
            <a:extLst xmlns:a="http://schemas.openxmlformats.org/drawingml/2006/main">
              <a:ext uri="{FF2B5EF4-FFF2-40B4-BE49-F238E27FC236}">
                <a16:creationId xmlns:a16="http://schemas.microsoft.com/office/drawing/2014/main" id="{13401708-1867-4DAF-884B-558A4A54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911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DEPENDENCIA</a:t>
            </a:r>
          </a:p>
        </p:txBody>
      </p:sp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32D27740-198A-4954-8E5B-9F01FB06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24500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ll-label">
            <a:extLst xmlns:a="http://schemas.openxmlformats.org/drawingml/2006/main">
              <a:ext uri="{FF2B5EF4-FFF2-40B4-BE49-F238E27FC236}">
                <a16:creationId xmlns:a16="http://schemas.microsoft.com/office/drawing/2014/main" id="{B85E1E95-F1B7-4C82-BA14-960165EA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911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VOLUMEN</a:t>
            </a:r>
          </a:p>
        </p:txBody>
      </p:sp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488F76F8-6163-4075-94D4-B57CC459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24500"/>
            <a:ext cx="1381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ill-label">
            <a:extLst xmlns:a="http://schemas.openxmlformats.org/drawingml/2006/main">
              <a:ext uri="{FF2B5EF4-FFF2-40B4-BE49-F238E27FC236}">
                <a16:creationId xmlns:a16="http://schemas.microsoft.com/office/drawing/2014/main" id="{7D23082F-5731-4067-B81D-D3ED1E83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911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CADUCIDAD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39325EDC-C1C3-42B2-BBC7-67A2F6E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KeyOps · Lean Canvas</a:t>
            </a:r>
          </a:p>
        </p:txBody>
      </p:sp>
    </p:spTree>
    <p:extLst>
      <p:ext uri="{BB962C8B-B14F-4D97-AF65-F5344CB8AC3E}">
        <p14:creationId xmlns:p14="http://schemas.microsoft.com/office/powerpoint/2010/main" val="400666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">
            <a:extLst xmlns:a="http://schemas.openxmlformats.org/drawingml/2006/main">
              <a:ext uri="{FF2B5EF4-FFF2-40B4-BE49-F238E27FC236}">
                <a16:creationId xmlns:a16="http://schemas.microsoft.com/office/drawing/2014/main" id="{87FAE2A4-E05F-4345-B36D-4D11BE7C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USUARIOS Y ADOPCIÓN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467AC7A6-5919-4182-907D-7D8A1E4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47252-4F09-468D-BDDD-E3770900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4FCFBF-7C2E-42D0-81D1-F407E060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025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Autonomía para los analistas; control para el equipo técnico.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0C61093-081B-4B68-AB47-00CFCC93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El propietario de la plataforma es el cliente. La aplicación crea valor en tres roles distintos.</a:t>
            </a:r>
          </a:p>
        </p:txBody>
      </p:sp>
      <p:sp>
        <p:nvSpPr>
          <p:cNvPr id="6" name="role-Analistas">
            <a:extLst xmlns:a="http://schemas.openxmlformats.org/drawingml/2006/main">
              <a:ext uri="{FF2B5EF4-FFF2-40B4-BE49-F238E27FC236}">
                <a16:creationId xmlns:a16="http://schemas.microsoft.com/office/drawing/2014/main" id="{FA8D291C-D044-4EB0-AB17-AEEB4C4F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147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le-tag-Analistas">
            <a:extLst xmlns:a="http://schemas.openxmlformats.org/drawingml/2006/main">
              <a:ext uri="{FF2B5EF4-FFF2-40B4-BE49-F238E27FC236}">
                <a16:creationId xmlns:a16="http://schemas.microsoft.com/office/drawing/2014/main" id="{1CCAFD42-25B8-4F53-ABB9-C725477D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USUARIO INTERNO</a:t>
            </a:r>
          </a:p>
        </p:txBody>
      </p:sp>
      <p:sp>
        <p:nvSpPr>
          <p:cNvPr id="8" name="role-title-Analistas">
            <a:extLst xmlns:a="http://schemas.openxmlformats.org/drawingml/2006/main">
              <a:ext uri="{FF2B5EF4-FFF2-40B4-BE49-F238E27FC236}">
                <a16:creationId xmlns:a16="http://schemas.microsoft.com/office/drawing/2014/main" id="{A0C10BB7-8071-4663-A62E-868EEE81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Analistas</a:t>
            </a:r>
          </a:p>
        </p:txBody>
      </p:sp>
      <p:sp>
        <p:nvSpPr>
          <p:cNvPr id="9" name="role-body-Analistas">
            <a:extLst xmlns:a="http://schemas.openxmlformats.org/drawingml/2006/main">
              <a:ext uri="{FF2B5EF4-FFF2-40B4-BE49-F238E27FC236}">
                <a16:creationId xmlns:a16="http://schemas.microsoft.com/office/drawing/2014/main" id="{078A17F9-1D8B-4B27-B1D0-16FDDC0E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781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Hoy no emiten certificados. Con la aplicación gestionarán el flujo operativo.</a:t>
            </a:r>
          </a:p>
        </p:txBody>
      </p:sp>
      <p:sp>
        <p:nvSpPr>
          <p:cNvPr id="10" name="role-Administradores">
            <a:extLst xmlns:a="http://schemas.openxmlformats.org/drawingml/2006/main">
              <a:ext uri="{FF2B5EF4-FFF2-40B4-BE49-F238E27FC236}">
                <a16:creationId xmlns:a16="http://schemas.microsoft.com/office/drawing/2014/main" id="{B86FF933-211A-4F62-B40A-6D542EE9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33147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tag-Administradores">
            <a:extLst xmlns:a="http://schemas.openxmlformats.org/drawingml/2006/main">
              <a:ext uri="{FF2B5EF4-FFF2-40B4-BE49-F238E27FC236}">
                <a16:creationId xmlns:a16="http://schemas.microsoft.com/office/drawing/2014/main" id="{35CDE4FC-6816-4798-A795-BA64324E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EQUIPO TÉCNICO</a:t>
            </a:r>
          </a:p>
        </p:txBody>
      </p:sp>
      <p:sp>
        <p:nvSpPr>
          <p:cNvPr id="12" name="role-title-Administradores">
            <a:extLst xmlns:a="http://schemas.openxmlformats.org/drawingml/2006/main">
              <a:ext uri="{FF2B5EF4-FFF2-40B4-BE49-F238E27FC236}">
                <a16:creationId xmlns:a16="http://schemas.microsoft.com/office/drawing/2014/main" id="{9ECBDAF7-4AA4-4992-AA78-141A60E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Administradores</a:t>
            </a:r>
          </a:p>
        </p:txBody>
      </p:sp>
      <p:sp>
        <p:nvSpPr>
          <p:cNvPr id="13" name="role-body-Administradores">
            <a:extLst xmlns:a="http://schemas.openxmlformats.org/drawingml/2006/main">
              <a:ext uri="{FF2B5EF4-FFF2-40B4-BE49-F238E27FC236}">
                <a16:creationId xmlns:a16="http://schemas.microsoft.com/office/drawing/2014/main" id="{1B01D474-2F23-4159-8344-89A06E6D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781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Mantienen los permisos, las excepciones y el acceso directo al backoffice.</a:t>
            </a:r>
          </a:p>
        </p:txBody>
      </p:sp>
      <p:sp>
        <p:nvSpPr>
          <p:cNvPr id="14" name="role-Integradores">
            <a:extLst xmlns:a="http://schemas.openxmlformats.org/drawingml/2006/main">
              <a:ext uri="{FF2B5EF4-FFF2-40B4-BE49-F238E27FC236}">
                <a16:creationId xmlns:a16="http://schemas.microsoft.com/office/drawing/2014/main" id="{65972902-2B83-462D-AADB-485CFA1D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3147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le-tag-Integradores">
            <a:extLst xmlns:a="http://schemas.openxmlformats.org/drawingml/2006/main">
              <a:ext uri="{FF2B5EF4-FFF2-40B4-BE49-F238E27FC236}">
                <a16:creationId xmlns:a16="http://schemas.microsoft.com/office/drawing/2014/main" id="{7D2C540D-2AD6-4D30-A216-94DE3883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USUARIO EXTERNO</a:t>
            </a:r>
          </a:p>
        </p:txBody>
      </p:sp>
      <p:sp>
        <p:nvSpPr>
          <p:cNvPr id="16" name="role-title-Integradores">
            <a:extLst xmlns:a="http://schemas.openxmlformats.org/drawingml/2006/main">
              <a:ext uri="{FF2B5EF4-FFF2-40B4-BE49-F238E27FC236}">
                <a16:creationId xmlns:a16="http://schemas.microsoft.com/office/drawing/2014/main" id="{42299B3D-D1A0-4D9F-AD78-A512B875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Integradores</a:t>
            </a:r>
          </a:p>
        </p:txBody>
      </p:sp>
      <p:sp>
        <p:nvSpPr>
          <p:cNvPr id="17" name="role-body-Integradores">
            <a:extLst xmlns:a="http://schemas.openxmlformats.org/drawingml/2006/main">
              <a:ext uri="{FF2B5EF4-FFF2-40B4-BE49-F238E27FC236}">
                <a16:creationId xmlns:a16="http://schemas.microsoft.com/office/drawing/2014/main" id="{F63B8310-4705-4E80-BF0C-94C6BC96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2781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Responsables de integración de las instituciones conectadas a la plataforma.</a:t>
            </a:r>
          </a:p>
        </p:txBody>
      </p:sp>
      <p:sp>
        <p:nvSpPr>
          <p:cNvPr id="18" name="early-adopter-bar">
            <a:extLst xmlns:a="http://schemas.openxmlformats.org/drawingml/2006/main">
              <a:ext uri="{FF2B5EF4-FFF2-40B4-BE49-F238E27FC236}">
                <a16:creationId xmlns:a16="http://schemas.microsoft.com/office/drawing/2014/main" id="{60CAF64C-8749-4F33-B15B-C8A9C74E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arly-adopter-text">
            <a:extLst xmlns:a="http://schemas.openxmlformats.org/drawingml/2006/main">
              <a:ext uri="{FF2B5EF4-FFF2-40B4-BE49-F238E27FC236}">
                <a16:creationId xmlns:a16="http://schemas.microsoft.com/office/drawing/2014/main" id="{9D833BC0-560F-4992-949F-7E85E0AE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92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Early adopters: analistas que atienden instituciones con más de 20 aplicaciones y varias renovaciones mensuales.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1BF05839-1966-4844-B533-7CF3F42B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KeyOps · Lean Canvas</a:t>
            </a:r>
          </a:p>
        </p:txBody>
      </p:sp>
    </p:spTree>
    <p:extLst>
      <p:ext uri="{BB962C8B-B14F-4D97-AF65-F5344CB8AC3E}">
        <p14:creationId xmlns:p14="http://schemas.microsoft.com/office/powerpoint/2010/main" val="1974228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4">
            <a:extLst xmlns:a="http://schemas.openxmlformats.org/drawingml/2006/main">
              <a:ext uri="{FF2B5EF4-FFF2-40B4-BE49-F238E27FC236}">
                <a16:creationId xmlns:a16="http://schemas.microsoft.com/office/drawing/2014/main" id="{371A7054-1A5A-4E1F-9A19-1C57EF2F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LA SOLUCIÓN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6AFA8BAE-F0E6-4910-8850-707CE0C8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81346-D716-4823-A981-59F852FD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4963D9F7-8863-445C-8414-32FC8CCB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Un único backoffice ordena el ciclo completo de la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credencial.</a:t>
            </a:r>
          </a:p>
        </p:txBody>
      </p:sp>
      <p:sp>
        <p:nvSpPr>
          <p:cNvPr id="5" name="solution-subtitle">
            <a:extLst xmlns:a="http://schemas.openxmlformats.org/drawingml/2006/main">
              <a:ext uri="{FF2B5EF4-FFF2-40B4-BE49-F238E27FC236}">
                <a16:creationId xmlns:a16="http://schemas.microsoft.com/office/drawing/2014/main" id="{73383760-20A5-4CBD-AE96-7F6AC12E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La propuesta combina autonomía operativa, control de permisos y trazabilidad.</a:t>
            </a:r>
          </a:p>
        </p:txBody>
      </p:sp>
      <p:sp>
        <p:nvSpPr>
          <p:cNvPr id="6" name="capability-1">
            <a:extLst xmlns:a="http://schemas.openxmlformats.org/drawingml/2006/main">
              <a:ext uri="{FF2B5EF4-FFF2-40B4-BE49-F238E27FC236}">
                <a16:creationId xmlns:a16="http://schemas.microsoft.com/office/drawing/2014/main" id="{D257F5D8-C600-4ADF-8040-0650507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3147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ability-number-1">
            <a:extLst xmlns:a="http://schemas.openxmlformats.org/drawingml/2006/main">
              <a:ext uri="{FF2B5EF4-FFF2-40B4-BE49-F238E27FC236}">
                <a16:creationId xmlns:a16="http://schemas.microsoft.com/office/drawing/2014/main" id="{7AB00F71-6FC6-4F46-B677-21FEB11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apability-title-1">
            <a:extLst xmlns:a="http://schemas.openxmlformats.org/drawingml/2006/main">
              <a:ext uri="{FF2B5EF4-FFF2-40B4-BE49-F238E27FC236}">
                <a16:creationId xmlns:a16="http://schemas.microsoft.com/office/drawing/2014/main" id="{84C2D0D4-BAA3-48B9-89B6-E4A8B79C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Instituciones y apps</a:t>
            </a:r>
          </a:p>
        </p:txBody>
      </p:sp>
      <p:sp>
        <p:nvSpPr>
          <p:cNvPr id="9" name="capability-body-1">
            <a:extLst xmlns:a="http://schemas.openxmlformats.org/drawingml/2006/main">
              <a:ext uri="{FF2B5EF4-FFF2-40B4-BE49-F238E27FC236}">
                <a16:creationId xmlns:a16="http://schemas.microsoft.com/office/drawing/2014/main" id="{9FD36B81-16E5-4A65-AA6C-68292C62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2724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Crear, modificar y eliminar; asignar roles a cada aplicación integrada.</a:t>
            </a:r>
          </a:p>
        </p:txBody>
      </p:sp>
      <p:sp>
        <p:nvSpPr>
          <p:cNvPr id="10" name="capability-2">
            <a:extLst xmlns:a="http://schemas.openxmlformats.org/drawingml/2006/main">
              <a:ext uri="{FF2B5EF4-FFF2-40B4-BE49-F238E27FC236}">
                <a16:creationId xmlns:a16="http://schemas.microsoft.com/office/drawing/2014/main" id="{1C009088-3019-4007-A777-7A45CF0E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33147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ability-number-2">
            <a:extLst xmlns:a="http://schemas.openxmlformats.org/drawingml/2006/main">
              <a:ext uri="{FF2B5EF4-FFF2-40B4-BE49-F238E27FC236}">
                <a16:creationId xmlns:a16="http://schemas.microsoft.com/office/drawing/2014/main" id="{D35AA777-C545-4D1E-99D9-BDD03732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67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capability-title-2">
            <a:extLst xmlns:a="http://schemas.openxmlformats.org/drawingml/2006/main">
              <a:ext uri="{FF2B5EF4-FFF2-40B4-BE49-F238E27FC236}">
                <a16:creationId xmlns:a16="http://schemas.microsoft.com/office/drawing/2014/main" id="{6096CDE5-16FD-47B9-B7E3-31DAD8AF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Inventario central</a:t>
            </a:r>
          </a:p>
        </p:txBody>
      </p:sp>
      <p:sp>
        <p:nvSpPr>
          <p:cNvPr id="13" name="capability-body-2">
            <a:extLst xmlns:a="http://schemas.openxmlformats.org/drawingml/2006/main">
              <a:ext uri="{FF2B5EF4-FFF2-40B4-BE49-F238E27FC236}">
                <a16:creationId xmlns:a16="http://schemas.microsoft.com/office/drawing/2014/main" id="{584965CC-DBC8-40C4-8EF8-AE042804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76700"/>
            <a:ext cx="2724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Consultar certificados, aplicaciones, roles y detalles relevantes desde un lugar.</a:t>
            </a:r>
          </a:p>
        </p:txBody>
      </p:sp>
      <p:sp>
        <p:nvSpPr>
          <p:cNvPr id="14" name="capability-3">
            <a:extLst xmlns:a="http://schemas.openxmlformats.org/drawingml/2006/main">
              <a:ext uri="{FF2B5EF4-FFF2-40B4-BE49-F238E27FC236}">
                <a16:creationId xmlns:a16="http://schemas.microsoft.com/office/drawing/2014/main" id="{C29A6208-9372-4494-865B-CEECDA4F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3147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ability-number-3">
            <a:extLst xmlns:a="http://schemas.openxmlformats.org/drawingml/2006/main">
              <a:ext uri="{FF2B5EF4-FFF2-40B4-BE49-F238E27FC236}">
                <a16:creationId xmlns:a16="http://schemas.microsoft.com/office/drawing/2014/main" id="{8923A983-2705-4F0E-9170-C928BF81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capability-title-3">
            <a:extLst xmlns:a="http://schemas.openxmlformats.org/drawingml/2006/main">
              <a:ext uri="{FF2B5EF4-FFF2-40B4-BE49-F238E27FC236}">
                <a16:creationId xmlns:a16="http://schemas.microsoft.com/office/drawing/2014/main" id="{9DCE1EC3-8CCD-4F26-A45D-0913D67E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242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Ciclo de vida</a:t>
            </a:r>
          </a:p>
        </p:txBody>
      </p:sp>
      <p:sp>
        <p:nvSpPr>
          <p:cNvPr id="17" name="capability-body-3">
            <a:extLst xmlns:a="http://schemas.openxmlformats.org/drawingml/2006/main">
              <a:ext uri="{FF2B5EF4-FFF2-40B4-BE49-F238E27FC236}">
                <a16:creationId xmlns:a16="http://schemas.microsoft.com/office/drawing/2014/main" id="{DC2E237A-E0BE-42B2-82CF-37BF62ED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76700"/>
            <a:ext cx="2724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Generar, descargar, regenerar, cambiar, suspender, desactivar o revocar.</a:t>
            </a:r>
          </a:p>
        </p:txBody>
      </p:sp>
      <p:sp>
        <p:nvSpPr>
          <p:cNvPr id="18" name="solution-footer">
            <a:extLst xmlns:a="http://schemas.openxmlformats.org/drawingml/2006/main">
              <a:ext uri="{FF2B5EF4-FFF2-40B4-BE49-F238E27FC236}">
                <a16:creationId xmlns:a16="http://schemas.microsoft.com/office/drawing/2014/main" id="{8A48DEC8-7C66-4091-8AC9-B8BF58D0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Pruebas y producción · alertas diarias de caducidad · renovación o regeneración · historial de auditoría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8871353A-E500-489C-BBE3-0F10CC85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KeyOps · Lean Canvas</a:t>
            </a:r>
          </a:p>
        </p:txBody>
      </p:sp>
    </p:spTree>
    <p:extLst>
      <p:ext uri="{BB962C8B-B14F-4D97-AF65-F5344CB8AC3E}">
        <p14:creationId xmlns:p14="http://schemas.microsoft.com/office/powerpoint/2010/main" val="600732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5">
            <a:extLst xmlns:a="http://schemas.openxmlformats.org/drawingml/2006/main">
              <a:ext uri="{FF2B5EF4-FFF2-40B4-BE49-F238E27FC236}">
                <a16:creationId xmlns:a16="http://schemas.microsoft.com/office/drawing/2014/main" id="{20AB5B90-A29D-4F62-A66A-4BD3029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VALIDACIÓN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D415FF31-1393-4F48-BC64-68334B3D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31F73-26B0-4BD6-87E1-D8BEA07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628CA4-3F83-46CB-BC09-A91BC65A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El piloto valida el valor antes de escalar.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DAAA9C8-E788-4ECC-A784-3EDD0CBD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Tres meses para comprobar si el nuevo flujo es más rápido, más eficiente y adoptable.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794FA-4232-4EFE-939F-ACF0541B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dot-1">
            <a:extLst xmlns:a="http://schemas.openxmlformats.org/drawingml/2006/main">
              <a:ext uri="{FF2B5EF4-FFF2-40B4-BE49-F238E27FC236}">
                <a16:creationId xmlns:a16="http://schemas.microsoft.com/office/drawing/2014/main" id="{4B66AA95-B8F2-49A0-AEA0-1E26AB5C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F2C56314-12C4-46F8-8ED2-F072BFD4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CAB9B68B-1ABB-408A-BF6B-721EFEF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Patrocinio</a:t>
            </a:r>
          </a:p>
        </p:txBody>
      </p:sp>
      <p:sp>
        <p:nvSpPr>
          <p:cNvPr id="10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FAC893FC-A649-4807-BB2C-B390221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Presentar al propietario de la plataforma el coste actual y el impacto esperado.</a:t>
            </a:r>
          </a:p>
        </p:txBody>
      </p:sp>
      <p:sp>
        <p:nvSpPr>
          <p:cNvPr id="11" name="stage-dot-2">
            <a:extLst xmlns:a="http://schemas.openxmlformats.org/drawingml/2006/main">
              <a:ext uri="{FF2B5EF4-FFF2-40B4-BE49-F238E27FC236}">
                <a16:creationId xmlns:a16="http://schemas.microsoft.com/office/drawing/2014/main" id="{999B8DC7-99A0-4429-A345-AE65E23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55A0F56F-4A00-4B1B-8271-A9170452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38E32EA8-EF72-4BCB-92BB-36070CCE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Piloto de 3 meses</a:t>
            </a:r>
          </a:p>
        </p:txBody>
      </p:sp>
      <p:sp>
        <p:nvSpPr>
          <p:cNvPr id="14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CB0A0D28-EBD7-485A-A5C0-1B9A8480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Analistas que atienden a las tres instituciones de mayor volumen.</a:t>
            </a:r>
          </a:p>
        </p:txBody>
      </p:sp>
      <p:sp>
        <p:nvSpPr>
          <p:cNvPr id="15" name="stage-dot-3">
            <a:extLst xmlns:a="http://schemas.openxmlformats.org/drawingml/2006/main">
              <a:ext uri="{FF2B5EF4-FFF2-40B4-BE49-F238E27FC236}">
                <a16:creationId xmlns:a16="http://schemas.microsoft.com/office/drawing/2014/main" id="{11A58206-18B6-4912-9766-1E2A5501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ECEAA69-FBB7-41B8-A87D-007BFF8D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4DB74B19-1CC5-4C7D-8E0B-E710C70A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Despliegue por olas</a:t>
            </a:r>
          </a:p>
        </p:txBody>
      </p:sp>
      <p:sp>
        <p:nvSpPr>
          <p:cNvPr id="18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3403C468-3187-4060-BD14-5BE18E3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Incorporar feedback y activar analistas e instituciones por bloques.</a:t>
            </a:r>
          </a:p>
        </p:txBody>
      </p:sp>
      <p:sp>
        <p:nvSpPr>
          <p:cNvPr id="19" name="metric-Métrica norte">
            <a:extLst xmlns:a="http://schemas.openxmlformats.org/drawingml/2006/main">
              <a:ext uri="{FF2B5EF4-FFF2-40B4-BE49-F238E27FC236}">
                <a16:creationId xmlns:a16="http://schemas.microsoft.com/office/drawing/2014/main" id="{DA95FDA7-8F3E-48B1-9821-885D11C4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3314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ric-label-Métrica norte">
            <a:extLst xmlns:a="http://schemas.openxmlformats.org/drawingml/2006/main">
              <a:ext uri="{FF2B5EF4-FFF2-40B4-BE49-F238E27FC236}">
                <a16:creationId xmlns:a16="http://schemas.microsoft.com/office/drawing/2014/main" id="{BF738EFA-26E9-41AE-810F-E55232F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Métrica norte</a:t>
            </a:r>
          </a:p>
        </p:txBody>
      </p:sp>
      <p:sp>
        <p:nvSpPr>
          <p:cNvPr id="21" name="metric-body-Métrica norte">
            <a:extLst xmlns:a="http://schemas.openxmlformats.org/drawingml/2006/main">
              <a:ext uri="{FF2B5EF4-FFF2-40B4-BE49-F238E27FC236}">
                <a16:creationId xmlns:a16="http://schemas.microsoft.com/office/drawing/2014/main" id="{41D16002-95E9-47F4-88BF-32DC52B7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Reducción del tiempo de ciclo de emisión o renovación.</a:t>
            </a:r>
          </a:p>
        </p:txBody>
      </p:sp>
      <p:sp>
        <p:nvSpPr>
          <p:cNvPr id="22" name="metric-Eficiencia">
            <a:extLst xmlns:a="http://schemas.openxmlformats.org/drawingml/2006/main">
              <a:ext uri="{FF2B5EF4-FFF2-40B4-BE49-F238E27FC236}">
                <a16:creationId xmlns:a16="http://schemas.microsoft.com/office/drawing/2014/main" id="{FCDDBE20-54EC-4F64-B1CD-52E09C0F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19700"/>
            <a:ext cx="3314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tric-label-Eficiencia">
            <a:extLst xmlns:a="http://schemas.openxmlformats.org/drawingml/2006/main">
              <a:ext uri="{FF2B5EF4-FFF2-40B4-BE49-F238E27FC236}">
                <a16:creationId xmlns:a16="http://schemas.microsoft.com/office/drawing/2014/main" id="{C27482EA-8700-47EF-A167-F2C747D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91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Eficiencia</a:t>
            </a:r>
          </a:p>
        </p:txBody>
      </p:sp>
      <p:sp>
        <p:nvSpPr>
          <p:cNvPr id="24" name="metric-body-Eficiencia">
            <a:extLst xmlns:a="http://schemas.openxmlformats.org/drawingml/2006/main">
              <a:ext uri="{FF2B5EF4-FFF2-40B4-BE49-F238E27FC236}">
                <a16:creationId xmlns:a16="http://schemas.microsoft.com/office/drawing/2014/main" id="{2151256A-6B44-43B3-9BB3-073A083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1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Coste medio por certificado antes y después.</a:t>
            </a:r>
          </a:p>
        </p:txBody>
      </p:sp>
      <p:sp>
        <p:nvSpPr>
          <p:cNvPr id="25" name="metric-Adopción y calidad">
            <a:extLst xmlns:a="http://schemas.openxmlformats.org/drawingml/2006/main">
              <a:ext uri="{FF2B5EF4-FFF2-40B4-BE49-F238E27FC236}">
                <a16:creationId xmlns:a16="http://schemas.microsoft.com/office/drawing/2014/main" id="{CD8CAA50-A247-474D-A741-5E4C064F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19700"/>
            <a:ext cx="3314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etric-label-Adopción y calidad">
            <a:extLst xmlns:a="http://schemas.openxmlformats.org/drawingml/2006/main">
              <a:ext uri="{FF2B5EF4-FFF2-40B4-BE49-F238E27FC236}">
                <a16:creationId xmlns:a16="http://schemas.microsoft.com/office/drawing/2014/main" id="{2DDA993B-FE30-4FD0-8687-7283B93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91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Adopción y calidad</a:t>
            </a:r>
          </a:p>
        </p:txBody>
      </p:sp>
      <p:sp>
        <p:nvSpPr>
          <p:cNvPr id="27" name="metric-body-Adopción y calidad">
            <a:extLst xmlns:a="http://schemas.openxmlformats.org/drawingml/2006/main">
              <a:ext uri="{FF2B5EF4-FFF2-40B4-BE49-F238E27FC236}">
                <a16:creationId xmlns:a16="http://schemas.microsoft.com/office/drawing/2014/main" id="{3ADAE911-302C-44DA-97CF-1790413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Uso activo de analistas y satisfacción del piloto.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226901AD-C7B7-49FB-B1D8-C6D3B7F0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KeyOps · Lean Canvas</a:t>
            </a:r>
          </a:p>
        </p:txBody>
      </p:sp>
    </p:spTree>
    <p:extLst>
      <p:ext uri="{BB962C8B-B14F-4D97-AF65-F5344CB8AC3E}">
        <p14:creationId xmlns:p14="http://schemas.microsoft.com/office/powerpoint/2010/main" val="520764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6">
            <a:extLst xmlns:a="http://schemas.openxmlformats.org/drawingml/2006/main">
              <a:ext uri="{FF2B5EF4-FFF2-40B4-BE49-F238E27FC236}">
                <a16:creationId xmlns:a16="http://schemas.microsoft.com/office/drawing/2014/main" id="{1DEBA750-7F75-4F4F-AD24-14220619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LA APUESTA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A48794C2-368A-4531-B9D8-33D631C2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D9EAC-86D1-4545-B3AE-28B9A81C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CD661D8-79C2-4596-B2EE-F890C389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Una mejora operativa que se puede demostrar.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1F4A192B-A5A4-4607-8CA6-78544A6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La rentabilidad no depende de cobrar a las instituciones: depende de recuperar ahorro interno con un flujo más corto y controlado.</a:t>
            </a:r>
          </a:p>
        </p:txBody>
      </p:sp>
      <p:sp>
        <p:nvSpPr>
          <p:cNvPr id="6" name="return-panel">
            <a:extLst xmlns:a="http://schemas.openxmlformats.org/drawingml/2006/main">
              <a:ext uri="{FF2B5EF4-FFF2-40B4-BE49-F238E27FC236}">
                <a16:creationId xmlns:a16="http://schemas.microsoft.com/office/drawing/2014/main" id="{9C28C789-EE94-4DC7-BE62-E90C52A5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5086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B2FB78A4-3BB4-44F0-A537-03876F64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RETORNO MEDIBLE</a:t>
            </a:r>
          </a:p>
        </p:txBody>
      </p:sp>
      <p:sp>
        <p:nvSpPr>
          <p:cNvPr id="8" name="return-formula">
            <a:extLst xmlns:a="http://schemas.openxmlformats.org/drawingml/2006/main">
              <a:ext uri="{FF2B5EF4-FFF2-40B4-BE49-F238E27FC236}">
                <a16:creationId xmlns:a16="http://schemas.microsoft.com/office/drawing/2014/main" id="{C663D1B9-D10D-481F-BDF8-81D281C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267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Ahorro anual =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(coste antes - coste después)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x certificados gestionados</a:t>
            </a:r>
          </a:p>
        </p:txBody>
      </p:sp>
      <p:sp>
        <p:nvSpPr>
          <p:cNvPr id="9" name="return-note">
            <a:extLst xmlns:a="http://schemas.openxmlformats.org/drawingml/2006/main">
              <a:ext uri="{FF2B5EF4-FFF2-40B4-BE49-F238E27FC236}">
                <a16:creationId xmlns:a16="http://schemas.microsoft.com/office/drawing/2014/main" id="{D7891080-F81C-4874-8F3C-A34DFF1A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La comparación piloto-control separará altas, renovaciones, pruebas y producción.</a:t>
            </a:r>
          </a:p>
        </p:txBody>
      </p:sp>
      <p:sp>
        <p:nvSpPr>
          <p:cNvPr id="10" name="moat-panel">
            <a:extLst xmlns:a="http://schemas.openxmlformats.org/drawingml/2006/main">
              <a:ext uri="{FF2B5EF4-FFF2-40B4-BE49-F238E27FC236}">
                <a16:creationId xmlns:a16="http://schemas.microsoft.com/office/drawing/2014/main" id="{70D1D260-4CBD-40D6-B6D2-8F065628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67000"/>
            <a:ext cx="561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at-label">
            <a:extLst xmlns:a="http://schemas.openxmlformats.org/drawingml/2006/main">
              <a:ext uri="{FF2B5EF4-FFF2-40B4-BE49-F238E27FC236}">
                <a16:creationId xmlns:a16="http://schemas.microsoft.com/office/drawing/2014/main" id="{BE686F0F-5DF9-414F-8B95-4A372062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ACTIVOS QUE SE REFUERZAN</a:t>
            </a:r>
          </a:p>
        </p:txBody>
      </p:sp>
      <p:sp>
        <p:nvSpPr>
          <p:cNvPr id="12" name="moat-assets">
            <a:extLst xmlns:a="http://schemas.openxmlformats.org/drawingml/2006/main">
              <a:ext uri="{FF2B5EF4-FFF2-40B4-BE49-F238E27FC236}">
                <a16:creationId xmlns:a16="http://schemas.microsoft.com/office/drawing/2014/main" id="{D67D07D3-56C7-4816-9B05-B8023CA4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Integración segura · conocimiento del proceso legal · datos de auditoría · relación con las instituciones</a:t>
            </a:r>
          </a:p>
        </p:txBody>
      </p:sp>
      <p:sp>
        <p:nvSpPr>
          <p:cNvPr id="13" name="moat-note">
            <a:extLst xmlns:a="http://schemas.openxmlformats.org/drawingml/2006/main">
              <a:ext uri="{FF2B5EF4-FFF2-40B4-BE49-F238E27FC236}">
                <a16:creationId xmlns:a16="http://schemas.microsoft.com/office/drawing/2014/main" id="{517EEF24-C328-4330-92EF-268212CE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En 90 días: pilotar, documentar reglas de negocio y consolidar evidencia de ahorro.</a:t>
            </a:r>
          </a:p>
        </p:txBody>
      </p:sp>
      <p:sp>
        <p:nvSpPr>
          <p:cNvPr id="14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77A918AB-E4B2-42E1-B60F-0A68D11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action-text">
            <a:extLst xmlns:a="http://schemas.openxmlformats.org/drawingml/2006/main">
              <a:ext uri="{FF2B5EF4-FFF2-40B4-BE49-F238E27FC236}">
                <a16:creationId xmlns:a16="http://schemas.microsoft.com/office/drawing/2014/main" id="{0BEBABAC-3654-4276-A4A7-7CE88968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Siguiente decisión: lanzar el piloto con los tres casos de mayor volumen.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894B84A0-D15A-434B-832E-E28A7C8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KeyOps · Lean Canvas</a:t>
            </a:r>
          </a:p>
        </p:txBody>
      </p:sp>
    </p:spTree>
    <p:extLst>
      <p:ext uri="{BB962C8B-B14F-4D97-AF65-F5344CB8AC3E}">
        <p14:creationId xmlns:p14="http://schemas.microsoft.com/office/powerpoint/2010/main" val="1485071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2026-07-19T16:28:26.0840000Z</dcterms:created>
  <dcterms:modified xsi:type="dcterms:W3CDTF">2026-07-19T16:28:26.0840000Z</dcterms:modified>
</coreProperties>
</file>