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d91c2a32cb478a" /><Relationship Type="http://schemas.openxmlformats.org/officeDocument/2006/relationships/extended-properties" Target="/docProps/app.xml" Id="Rfcb50228e8284798" /><Relationship Type="http://schemas.openxmlformats.org/officeDocument/2006/relationships/officeDocument" Target="/ppt/presentation.xml" Id="R588ee17507c943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7e61093a49491a"/>
  </p:sldMasterIdLst>
  <p:notesMasterIdLst>
    <p:notesMasterId xmlns:r="http://schemas.openxmlformats.org/officeDocument/2006/relationships" r:id="Rc5c2850a2ace487c"/>
  </p:notesMasterIdLst>
  <p:sldIdLst>
    <p:sldId xmlns:r="http://schemas.openxmlformats.org/officeDocument/2006/relationships" id="256" r:id="R950fa2da3d144663"/>
  </p:sldIdLst>
  <p:sldSz cx="13335000" cy="2857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e6c65504f40a7" /><Relationship Type="http://schemas.openxmlformats.org/officeDocument/2006/relationships/slideMaster" Target="/ppt/slideMasters/slideMaster1.xml" Id="Rf47e61093a49491a" /><Relationship Type="http://schemas.openxmlformats.org/officeDocument/2006/relationships/notesMaster" Target="/ppt/notesMasters/notesMaster1.xml" Id="Rc5c2850a2ace487c" /><Relationship Type="http://schemas.openxmlformats.org/officeDocument/2006/relationships/presProps" Target="/ppt/presProps.xml" Id="R6e756a17caa1471e" /><Relationship Type="http://schemas.openxmlformats.org/officeDocument/2006/relationships/tableStyles" Target="/ppt/tableStyles.xml" Id="Rce3e4f25e3314364" /><Relationship Type="http://schemas.openxmlformats.org/officeDocument/2006/relationships/slide" Target="/ppt/slides/slide1.xml" Id="R950fa2da3d1446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2c8e33536c49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5b8b319e44614" /><Relationship Type="http://schemas.openxmlformats.org/officeDocument/2006/relationships/notesMaster" Target="/ppt/notesMasters/notesMaster1.xml" Id="R57c8d86b72684a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/Users/glopezz/Documents/Viberano'26/design/spec.md</a:t>
            </a:r>
          </a:p>
          <a:p xmlns:a="http://schemas.openxmlformats.org/drawingml/2006/main">
            <a:r>
              <a:t>- /Users/glopezz/Documents/Viberano'26/design/DESIGN.md</a:t>
            </a:r>
          </a:p>
          <a:p xmlns:a="http://schemas.openxmlformats.org/drawingml/2006/main">
            <a:r>
              <a:t>- /Users/glopezz/Documents/Viberano'26/design/Pantallas_KeyOps_V4.png</a:t>
            </a:r>
          </a:p>
          <a:p xmlns:a="http://schemas.openxmlformats.org/drawingml/2006/main">
            <a:r>
              <a:t>- /Users/glopezz/Downloads/Estrella.jpg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654389b804d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fa0f4ebaa54c09" /><Relationship Type="http://schemas.openxmlformats.org/officeDocument/2006/relationships/slideLayout" Target="/ppt/slideLayouts/slideLayout1.xml" Id="R8bdce51d481b4a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dce51d481b4a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8b8b711374c5f" /><Relationship Type="http://schemas.openxmlformats.org/officeDocument/2006/relationships/image" Target="/ppt/media/image.png" Id="Rd30bf44be06644d1" /><Relationship Type="http://schemas.openxmlformats.org/officeDocument/2006/relationships/image" Target="/ppt/media/image2.png" Id="Ra78686e088cc4ba7" /><Relationship Type="http://schemas.openxmlformats.org/officeDocument/2006/relationships/image" Target="/ppt/media/image3.png" Id="Rb2757bf5b0514b5f" /><Relationship Type="http://schemas.openxmlformats.org/officeDocument/2006/relationships/image" Target="/ppt/media/image4.png" Id="R18d6a32a9ca244c3" /><Relationship Type="http://schemas.openxmlformats.org/officeDocument/2006/relationships/notesSlide" Target="/ppt/notesSlides/notesSlide1.xml" Id="Rcd0f0ca67ff540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E2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page">
            <a:extLst xmlns:a="http://schemas.openxmlformats.org/drawingml/2006/main">
              <a:ext uri="{FF2B5EF4-FFF2-40B4-BE49-F238E27FC236}">
                <a16:creationId xmlns:a16="http://schemas.microsoft.com/office/drawing/2014/main" id="{1DD74FFA-ADF8-4371-A460-F1A1D15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12611100" cy="27851100"/>
          </a:xfrm>
          <a:prstGeom xmlns:a="http://schemas.openxmlformats.org/drawingml/2006/main" prst="roundRect">
            <a:avLst>
              <a:gd name="adj" fmla="val 1208"/>
            </a:avLst>
          </a:prstGeom>
          <a:solidFill xmlns:a="http://schemas.openxmlformats.org/drawingml/2006/main">
            <a:srgbClr val="F8F5ED"/>
          </a:solidFill>
          <a:ln xmlns:a="http://schemas.openxmlformats.org/drawingml/2006/main" w="9525">
            <a:solidFill>
              <a:srgbClr val="D6D0C3"/>
            </a:solidFill>
            <a:prstDash val="solid"/>
          </a:ln>
        </p:spPr>
      </p:sp>
      <p:sp>
        <p:nvSpPr>
          <p:cNvPr id="2" name="title-keyops">
            <a:extLst xmlns:a="http://schemas.openxmlformats.org/drawingml/2006/main">
              <a:ext uri="{FF2B5EF4-FFF2-40B4-BE49-F238E27FC236}">
                <a16:creationId xmlns:a16="http://schemas.microsoft.com/office/drawing/2014/main" id="{1157F4A8-1EF0-4082-AD0E-3A17CA8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AFC0"/>
                </a:solidFill>
              </a:defRPr>
            </a:pPr>
            <a:r>
              <a:rPr sz="3600" b="1">
                <a:solidFill>
                  <a:srgbClr val="12AFC0"/>
                </a:solidFill>
              </a:rPr>
              <a:t>KEYOPS.</a:t>
            </a:r>
          </a:p>
        </p:txBody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68C599C6-D5EE-4132-B981-4FA158A4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429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8"/>
                </a:solidFill>
              </a:defRPr>
            </a:pPr>
            <a:r>
              <a:rPr sz="3600" b="1">
                <a:solidFill>
                  <a:srgbClr val="1C1A18"/>
                </a:solidFill>
              </a:rPr>
              <a:t>AUTONOMÍA SEGURA.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80E5440-078D-4229-A6A0-F73B93FA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A645A"/>
                </a:solidFill>
              </a:defRPr>
            </a:pPr>
            <a:r>
              <a:rPr sz="1350" b="1">
                <a:solidFill>
                  <a:srgbClr val="6A645A"/>
                </a:solidFill>
              </a:rPr>
              <a:t>CREDENCIALES API · MÓVIL PARA ANALISTAS</a:t>
            </a:r>
          </a:p>
        </p:txBody>
      </p:sp>
      <p:sp>
        <p:nvSpPr>
          <p:cNvPr id="5" name="stamp-outer">
            <a:extLst xmlns:a="http://schemas.openxmlformats.org/drawingml/2006/main">
              <a:ext uri="{FF2B5EF4-FFF2-40B4-BE49-F238E27FC236}">
                <a16:creationId xmlns:a16="http://schemas.microsoft.com/office/drawing/2014/main" id="{D3A3E8FB-612F-4A69-B2FE-72CCA1C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66750"/>
            <a:ext cx="2819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45D4"/>
            </a:solidFill>
            <a:prstDash val="solid"/>
          </a:ln>
        </p:spPr>
      </p:sp>
      <p:sp>
        <p:nvSpPr>
          <p:cNvPr id="6" name="stamp-inner">
            <a:extLst xmlns:a="http://schemas.openxmlformats.org/drawingml/2006/main">
              <a:ext uri="{FF2B5EF4-FFF2-40B4-BE49-F238E27FC236}">
                <a16:creationId xmlns:a16="http://schemas.microsoft.com/office/drawing/2014/main" id="{2D8C9CB0-8919-4120-9BA3-0CFFA8E8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771525"/>
            <a:ext cx="260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45D4"/>
            </a:solidFill>
            <a:prstDash val="solid"/>
          </a:ln>
        </p:spPr>
      </p:sp>
      <p:sp>
        <p:nvSpPr>
          <p:cNvPr id="7" name="stamp-title">
            <a:extLst xmlns:a="http://schemas.openxmlformats.org/drawingml/2006/main">
              <a:ext uri="{FF2B5EF4-FFF2-40B4-BE49-F238E27FC236}">
                <a16:creationId xmlns:a16="http://schemas.microsoft.com/office/drawing/2014/main" id="{9C86544D-7058-4CB7-8AF1-CDBCEE5C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144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645D4"/>
                </a:solidFill>
              </a:defRPr>
            </a:pPr>
            <a:r>
              <a:rPr sz="1425" b="1">
                <a:solidFill>
                  <a:srgbClr val="5645D4"/>
                </a:solidFill>
              </a:rPr>
              <a:t>DISEÑO FINAL</a:t>
            </a:r>
          </a:p>
        </p:txBody>
      </p:sp>
      <p:sp>
        <p:nvSpPr>
          <p:cNvPr id="8" name="stamp-sub">
            <a:extLst xmlns:a="http://schemas.openxmlformats.org/drawingml/2006/main">
              <a:ext uri="{FF2B5EF4-FFF2-40B4-BE49-F238E27FC236}">
                <a16:creationId xmlns:a16="http://schemas.microsoft.com/office/drawing/2014/main" id="{32E04037-8060-48E3-98C0-CF918675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382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75149"/>
                </a:solidFill>
              </a:defRPr>
            </a:pPr>
            <a:r>
              <a:rPr sz="1125" b="0">
                <a:solidFill>
                  <a:srgbClr val="575149"/>
                </a:solidFill>
              </a:rPr>
              <a:t>4 pantallas · V4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0460F11-4055-4A64-931C-44FDDA1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177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ro">
            <a:extLst xmlns:a="http://schemas.openxmlformats.org/drawingml/2006/main">
              <a:ext uri="{FF2B5EF4-FFF2-40B4-BE49-F238E27FC236}">
                <a16:creationId xmlns:a16="http://schemas.microsoft.com/office/drawing/2014/main" id="{17BD0C6A-9289-4040-8A11-B0BA469F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152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149"/>
                </a:solidFill>
              </a:defRPr>
            </a:pPr>
            <a:r>
              <a:rPr sz="1650" b="0">
                <a:solidFill>
                  <a:srgbClr val="575149"/>
                </a:solidFill>
              </a:rPr>
              <a:t>Una app interna para que el analista localice una aplicación, tramite su credencial y prepare una entrega segura, sin exponer secretos ni depender del acceso técnico directo.</a:t>
            </a:r>
          </a:p>
        </p:txBody>
      </p:sp>
      <p:sp>
        <p:nvSpPr>
          <p:cNvPr id="11" name="built-title">
            <a:extLst xmlns:a="http://schemas.openxmlformats.org/drawingml/2006/main">
              <a:ext uri="{FF2B5EF4-FFF2-40B4-BE49-F238E27FC236}">
                <a16:creationId xmlns:a16="http://schemas.microsoft.com/office/drawing/2014/main" id="{4465BDEC-7FC7-452F-89E4-F2B3BA0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1A18"/>
                </a:solidFill>
              </a:defRPr>
            </a:pPr>
            <a:r>
              <a:rPr sz="2025" b="1">
                <a:solidFill>
                  <a:srgbClr val="1C1A18"/>
                </a:solidFill>
              </a:rPr>
              <a:t>QUÉ HEMOS CONSTRUIDO</a:t>
            </a:r>
          </a:p>
        </p:txBody>
      </p:sp>
      <p:sp>
        <p:nvSpPr>
          <p:cNvPr id="12" name="built-subtitle">
            <a:extLst xmlns:a="http://schemas.openxmlformats.org/drawingml/2006/main">
              <a:ext uri="{FF2B5EF4-FFF2-40B4-BE49-F238E27FC236}">
                <a16:creationId xmlns:a16="http://schemas.microsoft.com/office/drawing/2014/main" id="{ED850B35-FF2C-4142-BD6C-1BA1C2F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A645A"/>
                </a:solidFill>
              </a:defRPr>
            </a:pPr>
            <a:r>
              <a:rPr sz="1200" b="1">
                <a:solidFill>
                  <a:srgbClr val="6A645A"/>
                </a:solidFill>
              </a:rPr>
              <a:t>EL PRODUCTO FINAL · LAS DECISIONES QUE LO DEFINEN</a:t>
            </a:r>
          </a:p>
        </p:txBody>
      </p:sp>
      <p:sp>
        <p:nvSpPr>
          <p:cNvPr id="13" name="built-role-card">
            <a:extLst xmlns:a="http://schemas.openxmlformats.org/drawingml/2006/main">
              <a:ext uri="{FF2B5EF4-FFF2-40B4-BE49-F238E27FC236}">
                <a16:creationId xmlns:a16="http://schemas.microsoft.com/office/drawing/2014/main" id="{98FD9E99-7AA8-49DE-B4B5-E01322A1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7622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14" name="built-role-index">
            <a:extLst xmlns:a="http://schemas.openxmlformats.org/drawingml/2006/main">
              <a:ext uri="{FF2B5EF4-FFF2-40B4-BE49-F238E27FC236}">
                <a16:creationId xmlns:a16="http://schemas.microsoft.com/office/drawing/2014/main" id="{62A8F01A-1361-443F-8695-A0D4ED66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45D4"/>
                </a:solidFill>
              </a:defRPr>
            </a:pPr>
            <a:r>
              <a:rPr sz="1200" b="1">
                <a:solidFill>
                  <a:srgbClr val="5645D4"/>
                </a:solidFill>
              </a:rPr>
              <a:t>01</a:t>
            </a:r>
          </a:p>
        </p:txBody>
      </p:sp>
      <p:sp>
        <p:nvSpPr>
          <p:cNvPr id="15" name="built-role-title">
            <a:extLst xmlns:a="http://schemas.openxmlformats.org/drawingml/2006/main">
              <a:ext uri="{FF2B5EF4-FFF2-40B4-BE49-F238E27FC236}">
                <a16:creationId xmlns:a16="http://schemas.microsoft.com/office/drawing/2014/main" id="{AF0C988A-014A-42B1-8A25-25E5DDC2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29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A18"/>
                </a:solidFill>
              </a:defRPr>
            </a:pPr>
            <a:r>
              <a:rPr sz="1500" b="1">
                <a:solidFill>
                  <a:srgbClr val="1C1A18"/>
                </a:solidFill>
              </a:rPr>
              <a:t>El rol está claro</a:t>
            </a:r>
          </a:p>
        </p:txBody>
      </p:sp>
      <p:sp>
        <p:nvSpPr>
          <p:cNvPr id="16" name="built-role-body">
            <a:extLst xmlns:a="http://schemas.openxmlformats.org/drawingml/2006/main">
              <a:ext uri="{FF2B5EF4-FFF2-40B4-BE49-F238E27FC236}">
                <a16:creationId xmlns:a16="http://schemas.microsoft.com/office/drawing/2014/main" id="{39674A85-EE9F-4C37-9ACB-AF3A504F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El analista opera en la app. El responsable del cliente recibe el enlace y descarga fuera del móvil.</a:t>
            </a:r>
          </a:p>
        </p:txBody>
      </p:sp>
      <p:sp>
        <p:nvSpPr>
          <p:cNvPr id="17" name="built-env-card">
            <a:extLst xmlns:a="http://schemas.openxmlformats.org/drawingml/2006/main">
              <a:ext uri="{FF2B5EF4-FFF2-40B4-BE49-F238E27FC236}">
                <a16:creationId xmlns:a16="http://schemas.microsoft.com/office/drawing/2014/main" id="{12060FB5-FE19-4A23-91B2-A657D9EB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05250"/>
            <a:ext cx="27622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18" name="built-env-index">
            <a:extLst xmlns:a="http://schemas.openxmlformats.org/drawingml/2006/main">
              <a:ext uri="{FF2B5EF4-FFF2-40B4-BE49-F238E27FC236}">
                <a16:creationId xmlns:a16="http://schemas.microsoft.com/office/drawing/2014/main" id="{9BC16670-7F41-4742-9AC3-204F048E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0767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45D4"/>
                </a:solidFill>
              </a:defRPr>
            </a:pPr>
            <a:r>
              <a:rPr sz="1200" b="1">
                <a:solidFill>
                  <a:srgbClr val="5645D4"/>
                </a:solidFill>
              </a:rPr>
              <a:t>02</a:t>
            </a:r>
          </a:p>
        </p:txBody>
      </p:sp>
      <p:sp>
        <p:nvSpPr>
          <p:cNvPr id="19" name="built-env-title">
            <a:extLst xmlns:a="http://schemas.openxmlformats.org/drawingml/2006/main">
              <a:ext uri="{FF2B5EF4-FFF2-40B4-BE49-F238E27FC236}">
                <a16:creationId xmlns:a16="http://schemas.microsoft.com/office/drawing/2014/main" id="{22F398F1-6E94-4ABE-9F8E-30ECB3A2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29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A18"/>
                </a:solidFill>
              </a:defRPr>
            </a:pPr>
            <a:r>
              <a:rPr sz="1500" b="1">
                <a:solidFill>
                  <a:srgbClr val="1C1A18"/>
                </a:solidFill>
              </a:rPr>
              <a:t>Dos entornos visibles</a:t>
            </a:r>
          </a:p>
        </p:txBody>
      </p:sp>
      <p:sp>
        <p:nvSpPr>
          <p:cNvPr id="20" name="built-env-body">
            <a:extLst xmlns:a="http://schemas.openxmlformats.org/drawingml/2006/main">
              <a:ext uri="{FF2B5EF4-FFF2-40B4-BE49-F238E27FC236}">
                <a16:creationId xmlns:a16="http://schemas.microsoft.com/office/drawing/2014/main" id="{47B144D2-4FDD-430A-A8BF-E89E2BB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9339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Pruebas y Producción permanecen separados. El ambiente activo siempre acompaña a la operación.</a:t>
            </a:r>
          </a:p>
        </p:txBody>
      </p:sp>
      <p:sp>
        <p:nvSpPr>
          <p:cNvPr id="21" name="built-secret-card">
            <a:extLst xmlns:a="http://schemas.openxmlformats.org/drawingml/2006/main">
              <a:ext uri="{FF2B5EF4-FFF2-40B4-BE49-F238E27FC236}">
                <a16:creationId xmlns:a16="http://schemas.microsoft.com/office/drawing/2014/main" id="{C0B5C269-A016-4803-A24A-FEEB1065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27622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22" name="built-secret-index">
            <a:extLst xmlns:a="http://schemas.openxmlformats.org/drawingml/2006/main">
              <a:ext uri="{FF2B5EF4-FFF2-40B4-BE49-F238E27FC236}">
                <a16:creationId xmlns:a16="http://schemas.microsoft.com/office/drawing/2014/main" id="{2DF09724-5DE9-4726-8E37-1153930D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767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45D4"/>
                </a:solidFill>
              </a:defRPr>
            </a:pPr>
            <a:r>
              <a:rPr sz="1200" b="1">
                <a:solidFill>
                  <a:srgbClr val="5645D4"/>
                </a:solidFill>
              </a:rPr>
              <a:t>03</a:t>
            </a:r>
          </a:p>
        </p:txBody>
      </p:sp>
      <p:sp>
        <p:nvSpPr>
          <p:cNvPr id="23" name="built-secret-title">
            <a:extLst xmlns:a="http://schemas.openxmlformats.org/drawingml/2006/main">
              <a:ext uri="{FF2B5EF4-FFF2-40B4-BE49-F238E27FC236}">
                <a16:creationId xmlns:a16="http://schemas.microsoft.com/office/drawing/2014/main" id="{0FDC0577-EC34-44FE-BE28-0C3A15EF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29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A18"/>
                </a:solidFill>
              </a:defRPr>
            </a:pPr>
            <a:r>
              <a:rPr sz="1500" b="1">
                <a:solidFill>
                  <a:srgbClr val="1C1A18"/>
                </a:solidFill>
              </a:rPr>
              <a:t>El secreto no aparece</a:t>
            </a:r>
          </a:p>
        </p:txBody>
      </p:sp>
      <p:sp>
        <p:nvSpPr>
          <p:cNvPr id="24" name="built-secret-body">
            <a:extLst xmlns:a="http://schemas.openxmlformats.org/drawingml/2006/main">
              <a:ext uri="{FF2B5EF4-FFF2-40B4-BE49-F238E27FC236}">
                <a16:creationId xmlns:a16="http://schemas.microsoft.com/office/drawing/2014/main" id="{1244325F-6FF6-4B4D-9E7F-A60F70D1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La app puede mostrar el Client ID, pero nunca revela ni enmascara el Client Secret.</a:t>
            </a:r>
          </a:p>
        </p:txBody>
      </p:sp>
      <p:sp>
        <p:nvSpPr>
          <p:cNvPr id="25" name="built-delivery-card">
            <a:extLst xmlns:a="http://schemas.openxmlformats.org/drawingml/2006/main">
              <a:ext uri="{FF2B5EF4-FFF2-40B4-BE49-F238E27FC236}">
                <a16:creationId xmlns:a16="http://schemas.microsoft.com/office/drawing/2014/main" id="{9C2C9FBC-D7DE-4D77-BFEA-AA702CC1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05250"/>
            <a:ext cx="27622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26" name="built-delivery-index">
            <a:extLst xmlns:a="http://schemas.openxmlformats.org/drawingml/2006/main">
              <a:ext uri="{FF2B5EF4-FFF2-40B4-BE49-F238E27FC236}">
                <a16:creationId xmlns:a16="http://schemas.microsoft.com/office/drawing/2014/main" id="{3F4B646F-6DB3-4068-91A7-E86E05DB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0767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45D4"/>
                </a:solidFill>
              </a:defRPr>
            </a:pPr>
            <a:r>
              <a:rPr sz="1200" b="1">
                <a:solidFill>
                  <a:srgbClr val="5645D4"/>
                </a:solidFill>
              </a:rPr>
              <a:t>04</a:t>
            </a:r>
          </a:p>
        </p:txBody>
      </p:sp>
      <p:sp>
        <p:nvSpPr>
          <p:cNvPr id="27" name="built-delivery-title">
            <a:extLst xmlns:a="http://schemas.openxmlformats.org/drawingml/2006/main">
              <a:ext uri="{FF2B5EF4-FFF2-40B4-BE49-F238E27FC236}">
                <a16:creationId xmlns:a16="http://schemas.microsoft.com/office/drawing/2014/main" id="{7484CE72-B231-4DC6-AD0F-068375FB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429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A18"/>
                </a:solidFill>
              </a:defRPr>
            </a:pPr>
            <a:r>
              <a:rPr sz="1500" b="1">
                <a:solidFill>
                  <a:srgbClr val="1C1A18"/>
                </a:solidFill>
              </a:rPr>
              <a:t>Entrega separada</a:t>
            </a:r>
          </a:p>
        </p:txBody>
      </p:sp>
      <p:sp>
        <p:nvSpPr>
          <p:cNvPr id="28" name="built-delivery-body">
            <a:extLst xmlns:a="http://schemas.openxmlformats.org/drawingml/2006/main">
              <a:ext uri="{FF2B5EF4-FFF2-40B4-BE49-F238E27FC236}">
                <a16:creationId xmlns:a16="http://schemas.microsoft.com/office/drawing/2014/main" id="{D39DC759-B221-4089-92A5-5C5664CD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9339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El enlace seguro y el OTP de dos minutos se copian y comparten mediante acciones distintas.</a:t>
            </a:r>
          </a:p>
        </p:txBody>
      </p:sp>
      <p:sp>
        <p:nvSpPr>
          <p:cNvPr id="29" name="star-title">
            <a:extLst xmlns:a="http://schemas.openxmlformats.org/drawingml/2006/main">
              <a:ext uri="{FF2B5EF4-FFF2-40B4-BE49-F238E27FC236}">
                <a16:creationId xmlns:a16="http://schemas.microsoft.com/office/drawing/2014/main" id="{F9A76AEC-1B1F-4FB0-853B-C69E921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29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1A18"/>
                </a:solidFill>
              </a:defRPr>
            </a:pPr>
            <a:r>
              <a:rPr sz="2025" b="1">
                <a:solidFill>
                  <a:srgbClr val="1C1A18"/>
                </a:solidFill>
              </a:rPr>
              <a:t>LA PANTALLA ESTRELLA</a:t>
            </a:r>
          </a:p>
        </p:txBody>
      </p:sp>
      <p:sp>
        <p:nvSpPr>
          <p:cNvPr id="30" name="star-subtitle">
            <a:extLst xmlns:a="http://schemas.openxmlformats.org/drawingml/2006/main">
              <a:ext uri="{FF2B5EF4-FFF2-40B4-BE49-F238E27FC236}">
                <a16:creationId xmlns:a16="http://schemas.microsoft.com/office/drawing/2014/main" id="{8F369929-57F2-466B-888E-FBB9FED1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294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A645A"/>
                </a:solidFill>
              </a:defRPr>
            </a:pPr>
            <a:r>
              <a:rPr sz="1200" b="1">
                <a:solidFill>
                  <a:srgbClr val="6A645A"/>
                </a:solidFill>
              </a:rPr>
              <a:t>LISTADO DE CREDENCIALES · EL PUNTO DE ENTRADA A CADA GESTIÓN</a:t>
            </a:r>
          </a:p>
        </p:txBody>
      </p:sp>
      <p:sp>
        <p:nvSpPr>
          <p:cNvPr id="31" name="star-panel">
            <a:extLst xmlns:a="http://schemas.openxmlformats.org/drawingml/2006/main">
              <a:ext uri="{FF2B5EF4-FFF2-40B4-BE49-F238E27FC236}">
                <a16:creationId xmlns:a16="http://schemas.microsoft.com/office/drawing/2014/main" id="{4B313B46-3051-422C-AD09-BD719070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2001500" cy="8191500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EEE9FA"/>
          </a:solidFill>
          <a:ln xmlns:a="http://schemas.openxmlformats.org/drawingml/2006/main" w="19050">
            <a:solidFill>
              <a:srgbClr val="5645D4"/>
            </a:solidFill>
            <a:prstDash val="solid"/>
          </a:ln>
        </p:spPr>
      </p:sp>
      <p:sp>
        <p:nvSpPr>
          <p:cNvPr id="32" name="star-panel-header">
            <a:extLst xmlns:a="http://schemas.openxmlformats.org/drawingml/2006/main">
              <a:ext uri="{FF2B5EF4-FFF2-40B4-BE49-F238E27FC236}">
                <a16:creationId xmlns:a16="http://schemas.microsoft.com/office/drawing/2014/main" id="{F6F9E545-4655-41BB-B906-69AB4DCE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200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03E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r-panel-header-square">
            <a:extLst xmlns:a="http://schemas.openxmlformats.org/drawingml/2006/main">
              <a:ext uri="{FF2B5EF4-FFF2-40B4-BE49-F238E27FC236}">
                <a16:creationId xmlns:a16="http://schemas.microsoft.com/office/drawing/2014/main" id="{40F3757B-EAC5-4885-B591-E91FDC6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0"/>
            <a:ext cx="1200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3E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r-panel-label">
            <a:extLst xmlns:a="http://schemas.openxmlformats.org/drawingml/2006/main">
              <a:ext uri="{FF2B5EF4-FFF2-40B4-BE49-F238E27FC236}">
                <a16:creationId xmlns:a16="http://schemas.microsoft.com/office/drawing/2014/main" id="{1CF08A8B-8887-4836-B48E-CB22122D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381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☆  PANTALLA ESTRELLA</a:t>
            </a:r>
          </a:p>
        </p:txBody>
      </p:sp>
      <p:sp>
        <p:nvSpPr>
          <p:cNvPr id="35" name="Listado de credenciales — pantalla estrella-shadow">
            <a:extLst xmlns:a="http://schemas.openxmlformats.org/drawingml/2006/main">
              <a:ext uri="{FF2B5EF4-FFF2-40B4-BE49-F238E27FC236}">
                <a16:creationId xmlns:a16="http://schemas.microsoft.com/office/drawing/2014/main" id="{F48108D4-C777-4237-B44F-564972C1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0"/>
            <a:ext cx="2533650" cy="5181600"/>
          </a:xfrm>
          <a:prstGeom xmlns:a="http://schemas.openxmlformats.org/drawingml/2006/main" prst="roundRect">
            <a:avLst>
              <a:gd name="adj" fmla="val 9398"/>
            </a:avLst>
          </a:prstGeom>
          <a:solidFill xmlns:a="http://schemas.openxmlformats.org/drawingml/2006/main">
            <a:srgbClr val="29262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bf44be06644d1"/>
          <a:stretch xmlns:a="http://schemas.openxmlformats.org/drawingml/2006/main"/>
        </p:blipFill>
        <p:spPr>
          <a:xfrm xmlns:a="http://schemas.openxmlformats.org/drawingml/2006/main">
            <a:off x="1203325" y="8153400"/>
            <a:ext cx="2413000" cy="5067300"/>
          </a:xfrm>
          <a:prstGeom xmlns:a="http://schemas.openxmlformats.org/drawingml/2006/main" prst="roundRect">
            <a:avLst>
              <a:gd name="adj" fmla="val 8661"/>
            </a:avLst>
          </a:prstGeom>
        </p:spPr>
      </p:pic>
      <p:sp>
        <p:nvSpPr>
          <p:cNvPr id="37" name="star-sticker">
            <a:extLst xmlns:a="http://schemas.openxmlformats.org/drawingml/2006/main">
              <a:ext uri="{FF2B5EF4-FFF2-40B4-BE49-F238E27FC236}">
                <a16:creationId xmlns:a16="http://schemas.microsoft.com/office/drawing/2014/main" id="{500E65A1-E01D-42E7-BB7E-A571A590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15250"/>
            <a:ext cx="106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4C54F"/>
                </a:solidFill>
              </a:defRPr>
            </a:pPr>
            <a:r>
              <a:rPr sz="6150" b="1">
                <a:solidFill>
                  <a:srgbClr val="F4C54F"/>
                </a:solidFill>
              </a:rPr>
              <a:t>★</a:t>
            </a:r>
          </a:p>
        </p:txBody>
      </p:sp>
      <p:sp>
        <p:nvSpPr>
          <p:cNvPr id="38" name="star-caption">
            <a:extLst xmlns:a="http://schemas.openxmlformats.org/drawingml/2006/main">
              <a:ext uri="{FF2B5EF4-FFF2-40B4-BE49-F238E27FC236}">
                <a16:creationId xmlns:a16="http://schemas.microsoft.com/office/drawing/2014/main" id="{838B3738-66B4-4FA9-AD1E-594880D4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3525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645D4"/>
                </a:solidFill>
              </a:defRPr>
            </a:pPr>
            <a:r>
              <a:rPr sz="1200" b="1">
                <a:solidFill>
                  <a:srgbClr val="5645D4"/>
                </a:solidFill>
              </a:rPr>
              <a:t>V4 · FINAL</a:t>
            </a:r>
          </a:p>
        </p:txBody>
      </p:sp>
      <p:sp>
        <p:nvSpPr>
          <p:cNvPr id="39" name="star-name">
            <a:extLst xmlns:a="http://schemas.openxmlformats.org/drawingml/2006/main">
              <a:ext uri="{FF2B5EF4-FFF2-40B4-BE49-F238E27FC236}">
                <a16:creationId xmlns:a16="http://schemas.microsoft.com/office/drawing/2014/main" id="{080A4F90-CF45-4608-84D8-855033EC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1724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A18"/>
                </a:solidFill>
              </a:defRPr>
            </a:pPr>
            <a:r>
              <a:rPr sz="2550" b="1">
                <a:solidFill>
                  <a:srgbClr val="1C1A18"/>
                </a:solidFill>
              </a:rPr>
              <a:t>Listado de credenciales</a:t>
            </a:r>
          </a:p>
        </p:txBody>
      </p:sp>
      <p:sp>
        <p:nvSpPr>
          <p:cNvPr id="40" name="star-route">
            <a:extLst xmlns:a="http://schemas.openxmlformats.org/drawingml/2006/main">
              <a:ext uri="{FF2B5EF4-FFF2-40B4-BE49-F238E27FC236}">
                <a16:creationId xmlns:a16="http://schemas.microsoft.com/office/drawing/2014/main" id="{93E4B287-AC7B-4488-A223-B872FA2D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963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45A"/>
                </a:solidFill>
              </a:defRPr>
            </a:pPr>
            <a:r>
              <a:rPr sz="1200" b="0">
                <a:solidFill>
                  <a:srgbClr val="6A645A"/>
                </a:solidFill>
              </a:rPr>
              <a:t>Autenticación → Listado → Detalle → Entrega</a:t>
            </a:r>
          </a:p>
        </p:txBody>
      </p:sp>
      <p:sp>
        <p:nvSpPr>
          <p:cNvPr id="41" name="star-solves-label">
            <a:extLst xmlns:a="http://schemas.openxmlformats.org/drawingml/2006/main">
              <a:ext uri="{FF2B5EF4-FFF2-40B4-BE49-F238E27FC236}">
                <a16:creationId xmlns:a16="http://schemas.microsoft.com/office/drawing/2014/main" id="{FD38FCF5-3B62-4D39-B245-3476C7F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22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45D4"/>
                </a:solidFill>
              </a:defRPr>
            </a:pPr>
            <a:r>
              <a:rPr sz="1350" b="1">
                <a:solidFill>
                  <a:srgbClr val="5645D4"/>
                </a:solidFill>
              </a:rPr>
              <a:t>QUÉ RESUELVE</a:t>
            </a:r>
          </a:p>
        </p:txBody>
      </p:sp>
      <p:sp>
        <p:nvSpPr>
          <p:cNvPr id="42" name="star-solves">
            <a:extLst xmlns:a="http://schemas.openxmlformats.org/drawingml/2006/main">
              <a:ext uri="{FF2B5EF4-FFF2-40B4-BE49-F238E27FC236}">
                <a16:creationId xmlns:a16="http://schemas.microsoft.com/office/drawing/2014/main" id="{D6256438-E2FD-42C6-B633-7EB6E96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5440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149"/>
                </a:solidFill>
              </a:defRPr>
            </a:pPr>
            <a:r>
              <a:rPr sz="1350" b="0">
                <a:solidFill>
                  <a:srgbClr val="575149"/>
                </a:solidFill>
              </a:rPr>
              <a:t>Encontrar la institución y la aplicación correctas, confirmar ambiente, rol y estado, y abrir la acción adecuada.</a:t>
            </a:r>
          </a:p>
        </p:txBody>
      </p:sp>
      <p:sp>
        <p:nvSpPr>
          <p:cNvPr id="43" name="star-why-label">
            <a:extLst xmlns:a="http://schemas.openxmlformats.org/drawingml/2006/main">
              <a:ext uri="{FF2B5EF4-FFF2-40B4-BE49-F238E27FC236}">
                <a16:creationId xmlns:a16="http://schemas.microsoft.com/office/drawing/2014/main" id="{4D95C2CB-4B06-4F14-BCEB-317CA31D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191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45D4"/>
                </a:solidFill>
              </a:defRPr>
            </a:pPr>
            <a:r>
              <a:rPr sz="1350" b="1">
                <a:solidFill>
                  <a:srgbClr val="5645D4"/>
                </a:solidFill>
              </a:rPr>
              <a:t>POR QUÉ IMPORTA</a:t>
            </a:r>
          </a:p>
        </p:txBody>
      </p:sp>
      <p:sp>
        <p:nvSpPr>
          <p:cNvPr id="44" name="star-why">
            <a:extLst xmlns:a="http://schemas.openxmlformats.org/drawingml/2006/main">
              <a:ext uri="{FF2B5EF4-FFF2-40B4-BE49-F238E27FC236}">
                <a16:creationId xmlns:a16="http://schemas.microsoft.com/office/drawing/2014/main" id="{B56FBF78-CB9D-4FA5-8114-65D05EA0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5156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149"/>
                </a:solidFill>
              </a:defRPr>
            </a:pPr>
            <a:r>
              <a:rPr sz="1350" b="0">
                <a:solidFill>
                  <a:srgbClr val="575149"/>
                </a:solidFill>
              </a:rPr>
              <a:t>Concentra el contexto que evita operar sobre la credencial equivocada. Es la pantalla que el analista consulta antes de generar, regenerar, suspender o entregar.</a:t>
            </a:r>
          </a:p>
        </p:txBody>
      </p:sp>
      <p:sp>
        <p:nvSpPr>
          <p:cNvPr id="45" name="star-divider">
            <a:extLst xmlns:a="http://schemas.openxmlformats.org/drawingml/2006/main">
              <a:ext uri="{FF2B5EF4-FFF2-40B4-BE49-F238E27FC236}">
                <a16:creationId xmlns:a16="http://schemas.microsoft.com/office/drawing/2014/main" id="{4583A984-00CF-49EC-8B74-397246E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3728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4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tar-contents-title">
            <a:extLst xmlns:a="http://schemas.openxmlformats.org/drawingml/2006/main">
              <a:ext uri="{FF2B5EF4-FFF2-40B4-BE49-F238E27FC236}">
                <a16:creationId xmlns:a16="http://schemas.microsoft.com/office/drawing/2014/main" id="{C7EBE10C-B835-42EE-80EF-D7DFD56B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582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A18"/>
                </a:solidFill>
              </a:defRPr>
            </a:pPr>
            <a:r>
              <a:rPr sz="1350" b="1">
                <a:solidFill>
                  <a:srgbClr val="1C1A18"/>
                </a:solidFill>
              </a:rPr>
              <a:t>QUÉ TRAE LA PANTALLA, DE ARRIBA ABAJO</a:t>
            </a:r>
          </a:p>
        </p:txBody>
      </p:sp>
      <p:sp>
        <p:nvSpPr>
          <p:cNvPr id="47" name="point-1-number">
            <a:extLst xmlns:a="http://schemas.openxmlformats.org/drawingml/2006/main">
              <a:ext uri="{FF2B5EF4-FFF2-40B4-BE49-F238E27FC236}">
                <a16:creationId xmlns:a16="http://schemas.microsoft.com/office/drawing/2014/main" id="{2824110E-6919-4223-8A3E-795C5FB5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0681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4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oint-1-number-text">
            <a:extLst xmlns:a="http://schemas.openxmlformats.org/drawingml/2006/main">
              <a:ext uri="{FF2B5EF4-FFF2-40B4-BE49-F238E27FC236}">
                <a16:creationId xmlns:a16="http://schemas.microsoft.com/office/drawing/2014/main" id="{6C7AB646-E769-46A8-95FC-7D82E30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115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9" name="point-1-title">
            <a:extLst xmlns:a="http://schemas.openxmlformats.org/drawingml/2006/main">
              <a:ext uri="{FF2B5EF4-FFF2-40B4-BE49-F238E27FC236}">
                <a16:creationId xmlns:a16="http://schemas.microsoft.com/office/drawing/2014/main" id="{58640D1D-EB35-4368-A278-CC84BCDE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49125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A18"/>
                </a:solidFill>
              </a:defRPr>
            </a:pPr>
            <a:r>
              <a:rPr sz="1350" b="1">
                <a:solidFill>
                  <a:srgbClr val="1C1A18"/>
                </a:solidFill>
              </a:rPr>
              <a:t>Ambiente siempre visible</a:t>
            </a:r>
          </a:p>
        </p:txBody>
      </p:sp>
      <p:sp>
        <p:nvSpPr>
          <p:cNvPr id="50" name="point-1-body">
            <a:extLst xmlns:a="http://schemas.openxmlformats.org/drawingml/2006/main">
              <a:ext uri="{FF2B5EF4-FFF2-40B4-BE49-F238E27FC236}">
                <a16:creationId xmlns:a16="http://schemas.microsoft.com/office/drawing/2014/main" id="{6E49E7F2-1D97-4812-8982-98DB98CA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344400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Pruebas o Producción antes de actuar.</a:t>
            </a:r>
          </a:p>
        </p:txBody>
      </p:sp>
      <p:sp>
        <p:nvSpPr>
          <p:cNvPr id="51" name="point-2-number">
            <a:extLst xmlns:a="http://schemas.openxmlformats.org/drawingml/2006/main">
              <a:ext uri="{FF2B5EF4-FFF2-40B4-BE49-F238E27FC236}">
                <a16:creationId xmlns:a16="http://schemas.microsoft.com/office/drawing/2014/main" id="{C17FAA9E-42BC-4D6E-A4B3-27BE8139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681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4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oint-2-number-text">
            <a:extLst xmlns:a="http://schemas.openxmlformats.org/drawingml/2006/main">
              <a:ext uri="{FF2B5EF4-FFF2-40B4-BE49-F238E27FC236}">
                <a16:creationId xmlns:a16="http://schemas.microsoft.com/office/drawing/2014/main" id="{70B4D62F-8D81-47AF-9A9C-FD1ADA15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115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3" name="point-2-title">
            <a:extLst xmlns:a="http://schemas.openxmlformats.org/drawingml/2006/main">
              <a:ext uri="{FF2B5EF4-FFF2-40B4-BE49-F238E27FC236}">
                <a16:creationId xmlns:a16="http://schemas.microsoft.com/office/drawing/2014/main" id="{E8C9ED8A-C59F-4F2F-8D16-0B1D6580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49125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A18"/>
                </a:solidFill>
              </a:defRPr>
            </a:pPr>
            <a:r>
              <a:rPr sz="1350" b="1">
                <a:solidFill>
                  <a:srgbClr val="1C1A18"/>
                </a:solidFill>
              </a:rPr>
              <a:t>Institución y aplicación</a:t>
            </a:r>
          </a:p>
        </p:txBody>
      </p:sp>
      <p:sp>
        <p:nvSpPr>
          <p:cNvPr id="54" name="point-2-body">
            <a:extLst xmlns:a="http://schemas.openxmlformats.org/drawingml/2006/main">
              <a:ext uri="{FF2B5EF4-FFF2-40B4-BE49-F238E27FC236}">
                <a16:creationId xmlns:a16="http://schemas.microsoft.com/office/drawing/2014/main" id="{3EB0C476-8705-4251-8F48-4D19C610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344400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La unidad operativa se identifica primero.</a:t>
            </a:r>
          </a:p>
        </p:txBody>
      </p:sp>
      <p:sp>
        <p:nvSpPr>
          <p:cNvPr id="55" name="point-3-number">
            <a:extLst xmlns:a="http://schemas.openxmlformats.org/drawingml/2006/main">
              <a:ext uri="{FF2B5EF4-FFF2-40B4-BE49-F238E27FC236}">
                <a16:creationId xmlns:a16="http://schemas.microsoft.com/office/drawing/2014/main" id="{538747A7-E1FA-4A8D-80B6-A75E8AC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068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4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oint-3-number-text">
            <a:extLst xmlns:a="http://schemas.openxmlformats.org/drawingml/2006/main">
              <a:ext uri="{FF2B5EF4-FFF2-40B4-BE49-F238E27FC236}">
                <a16:creationId xmlns:a16="http://schemas.microsoft.com/office/drawing/2014/main" id="{691D01F4-A5FA-4AE5-86F2-880E876C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115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point-3-title">
            <a:extLst xmlns:a="http://schemas.openxmlformats.org/drawingml/2006/main">
              <a:ext uri="{FF2B5EF4-FFF2-40B4-BE49-F238E27FC236}">
                <a16:creationId xmlns:a16="http://schemas.microsoft.com/office/drawing/2014/main" id="{1771058C-A0E0-4488-A204-F73AA8C2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049250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A18"/>
                </a:solidFill>
              </a:defRPr>
            </a:pPr>
            <a:r>
              <a:rPr sz="1350" b="1">
                <a:solidFill>
                  <a:srgbClr val="1C1A18"/>
                </a:solidFill>
              </a:rPr>
              <a:t>Rol antes de la acción</a:t>
            </a:r>
          </a:p>
        </p:txBody>
      </p:sp>
      <p:sp>
        <p:nvSpPr>
          <p:cNvPr id="58" name="point-3-body">
            <a:extLst xmlns:a="http://schemas.openxmlformats.org/drawingml/2006/main">
              <a:ext uri="{FF2B5EF4-FFF2-40B4-BE49-F238E27FC236}">
                <a16:creationId xmlns:a16="http://schemas.microsoft.com/office/drawing/2014/main" id="{FD79748A-DF11-49F9-8634-85A0DFAE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344525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El alcance de la credencial queda explícito.</a:t>
            </a:r>
          </a:p>
        </p:txBody>
      </p:sp>
      <p:sp>
        <p:nvSpPr>
          <p:cNvPr id="59" name="point-4-number">
            <a:extLst xmlns:a="http://schemas.openxmlformats.org/drawingml/2006/main">
              <a:ext uri="{FF2B5EF4-FFF2-40B4-BE49-F238E27FC236}">
                <a16:creationId xmlns:a16="http://schemas.microsoft.com/office/drawing/2014/main" id="{ADE63E6C-C046-4382-B20C-82C80B0C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068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4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oint-4-number-text">
            <a:extLst xmlns:a="http://schemas.openxmlformats.org/drawingml/2006/main">
              <a:ext uri="{FF2B5EF4-FFF2-40B4-BE49-F238E27FC236}">
                <a16:creationId xmlns:a16="http://schemas.microsoft.com/office/drawing/2014/main" id="{576DDC7E-BF9F-48BB-A2D5-B8FCBA5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115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" name="point-4-title">
            <a:extLst xmlns:a="http://schemas.openxmlformats.org/drawingml/2006/main">
              <a:ext uri="{FF2B5EF4-FFF2-40B4-BE49-F238E27FC236}">
                <a16:creationId xmlns:a16="http://schemas.microsoft.com/office/drawing/2014/main" id="{0FBDEF66-F77A-4B2A-8A26-61850CE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049250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A18"/>
                </a:solidFill>
              </a:defRPr>
            </a:pPr>
            <a:r>
              <a:rPr sz="1350" b="1">
                <a:solidFill>
                  <a:srgbClr val="1C1A18"/>
                </a:solidFill>
              </a:rPr>
              <a:t>Estado con texto y color</a:t>
            </a:r>
          </a:p>
        </p:txBody>
      </p:sp>
      <p:sp>
        <p:nvSpPr>
          <p:cNvPr id="62" name="point-4-body">
            <a:extLst xmlns:a="http://schemas.openxmlformats.org/drawingml/2006/main">
              <a:ext uri="{FF2B5EF4-FFF2-40B4-BE49-F238E27FC236}">
                <a16:creationId xmlns:a16="http://schemas.microsoft.com/office/drawing/2014/main" id="{E73F5C9A-749F-4DFB-A322-690F140C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344525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Activa, revocada o sin credenciales.</a:t>
            </a:r>
          </a:p>
        </p:txBody>
      </p:sp>
      <p:sp>
        <p:nvSpPr>
          <p:cNvPr id="63" name="point-5-number">
            <a:extLst xmlns:a="http://schemas.openxmlformats.org/drawingml/2006/main">
              <a:ext uri="{FF2B5EF4-FFF2-40B4-BE49-F238E27FC236}">
                <a16:creationId xmlns:a16="http://schemas.microsoft.com/office/drawing/2014/main" id="{68B31519-9118-4B80-9E8C-35919FD3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0684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4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oint-5-number-text">
            <a:extLst xmlns:a="http://schemas.openxmlformats.org/drawingml/2006/main">
              <a:ext uri="{FF2B5EF4-FFF2-40B4-BE49-F238E27FC236}">
                <a16:creationId xmlns:a16="http://schemas.microsoft.com/office/drawing/2014/main" id="{00DC4A84-EC56-4941-B1FD-41644C3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116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5" name="point-5-title">
            <a:extLst xmlns:a="http://schemas.openxmlformats.org/drawingml/2006/main">
              <a:ext uri="{FF2B5EF4-FFF2-40B4-BE49-F238E27FC236}">
                <a16:creationId xmlns:a16="http://schemas.microsoft.com/office/drawing/2014/main" id="{8BE71BBD-4789-4A93-BF7A-2D28CAD4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049375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A18"/>
                </a:solidFill>
              </a:defRPr>
            </a:pPr>
            <a:r>
              <a:rPr sz="1350" b="1">
                <a:solidFill>
                  <a:srgbClr val="1C1A18"/>
                </a:solidFill>
              </a:rPr>
              <a:t>Acciones con contexto</a:t>
            </a:r>
          </a:p>
        </p:txBody>
      </p:sp>
      <p:sp>
        <p:nvSpPr>
          <p:cNvPr id="66" name="point-5-body">
            <a:extLst xmlns:a="http://schemas.openxmlformats.org/drawingml/2006/main">
              <a:ext uri="{FF2B5EF4-FFF2-40B4-BE49-F238E27FC236}">
                <a16:creationId xmlns:a16="http://schemas.microsoft.com/office/drawing/2014/main" id="{8882628A-28F5-4E8F-ACB3-C902DAB5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344650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Cada menú pertenece a una credencial.</a:t>
            </a:r>
          </a:p>
        </p:txBody>
      </p:sp>
      <p:sp>
        <p:nvSpPr>
          <p:cNvPr id="67" name="point-6-number">
            <a:extLst xmlns:a="http://schemas.openxmlformats.org/drawingml/2006/main">
              <a:ext uri="{FF2B5EF4-FFF2-40B4-BE49-F238E27FC236}">
                <a16:creationId xmlns:a16="http://schemas.microsoft.com/office/drawing/2014/main" id="{9ADA4BD0-0346-4EC4-AE03-65A0132F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0684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4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oint-6-number-text">
            <a:extLst xmlns:a="http://schemas.openxmlformats.org/drawingml/2006/main">
              <a:ext uri="{FF2B5EF4-FFF2-40B4-BE49-F238E27FC236}">
                <a16:creationId xmlns:a16="http://schemas.microsoft.com/office/drawing/2014/main" id="{3BAE0E01-F098-4622-BF07-1F4132F5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116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9" name="point-6-title">
            <a:extLst xmlns:a="http://schemas.openxmlformats.org/drawingml/2006/main">
              <a:ext uri="{FF2B5EF4-FFF2-40B4-BE49-F238E27FC236}">
                <a16:creationId xmlns:a16="http://schemas.microsoft.com/office/drawing/2014/main" id="{A4B994E9-D8DC-4B4A-ADDD-0805BC36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049375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A18"/>
                </a:solidFill>
              </a:defRPr>
            </a:pPr>
            <a:r>
              <a:rPr sz="1350" b="1">
                <a:solidFill>
                  <a:srgbClr val="1C1A18"/>
                </a:solidFill>
              </a:rPr>
              <a:t>Pensada para el pulgar</a:t>
            </a:r>
          </a:p>
        </p:txBody>
      </p:sp>
      <p:sp>
        <p:nvSpPr>
          <p:cNvPr id="70" name="point-6-body">
            <a:extLst xmlns:a="http://schemas.openxmlformats.org/drawingml/2006/main">
              <a:ext uri="{FF2B5EF4-FFF2-40B4-BE49-F238E27FC236}">
                <a16:creationId xmlns:a16="http://schemas.microsoft.com/office/drawing/2014/main" id="{FDA62A47-0AC2-4FCE-B430-4E0937D1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344650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Vertical, una columna y áreas táctiles amplias.</a:t>
            </a:r>
          </a:p>
        </p:txBody>
      </p:sp>
      <p:sp>
        <p:nvSpPr>
          <p:cNvPr id="71" name="others-title">
            <a:extLst xmlns:a="http://schemas.openxmlformats.org/drawingml/2006/main">
              <a:ext uri="{FF2B5EF4-FFF2-40B4-BE49-F238E27FC236}">
                <a16:creationId xmlns:a16="http://schemas.microsoft.com/office/drawing/2014/main" id="{7059D8CC-3A9D-4182-8B15-6D453596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877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1A18"/>
                </a:solidFill>
              </a:defRPr>
            </a:pPr>
            <a:r>
              <a:rPr sz="2025" b="1">
                <a:solidFill>
                  <a:srgbClr val="1C1A18"/>
                </a:solidFill>
              </a:rPr>
              <a:t>LAS OTRAS TRES PANTALLAS</a:t>
            </a:r>
          </a:p>
        </p:txBody>
      </p:sp>
      <p:sp>
        <p:nvSpPr>
          <p:cNvPr id="72" name="others-subtitle">
            <a:extLst xmlns:a="http://schemas.openxmlformats.org/drawingml/2006/main">
              <a:ext uri="{FF2B5EF4-FFF2-40B4-BE49-F238E27FC236}">
                <a16:creationId xmlns:a16="http://schemas.microsoft.com/office/drawing/2014/main" id="{076AA78C-7A16-4B08-8D87-0754491A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A645A"/>
                </a:solidFill>
              </a:defRPr>
            </a:pPr>
            <a:r>
              <a:rPr sz="1200" b="1">
                <a:solidFill>
                  <a:srgbClr val="6A645A"/>
                </a:solidFill>
              </a:rPr>
              <a:t>CAPTURAS DE LAS MAQUETAS MÓVILES · V4 FINAL</a:t>
            </a:r>
          </a:p>
        </p:txBody>
      </p:sp>
      <p:sp>
        <p:nvSpPr>
          <p:cNvPr id="73" name="Autenticación-shadow">
            <a:extLst xmlns:a="http://schemas.openxmlformats.org/drawingml/2006/main">
              <a:ext uri="{FF2B5EF4-FFF2-40B4-BE49-F238E27FC236}">
                <a16:creationId xmlns:a16="http://schemas.microsoft.com/office/drawing/2014/main" id="{32889690-3244-4B84-A569-2F004AD1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611600"/>
            <a:ext cx="1733550" cy="351472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9262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686e088cc4ba7"/>
          <a:stretch xmlns:a="http://schemas.openxmlformats.org/drawingml/2006/main"/>
        </p:blipFill>
        <p:spPr>
          <a:xfrm xmlns:a="http://schemas.openxmlformats.org/drawingml/2006/main">
            <a:off x="1762125" y="16723596"/>
            <a:ext cx="1619250" cy="3290734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75" name="other-code-0">
            <a:extLst xmlns:a="http://schemas.openxmlformats.org/drawingml/2006/main">
              <a:ext uri="{FF2B5EF4-FFF2-40B4-BE49-F238E27FC236}">
                <a16:creationId xmlns:a16="http://schemas.microsoft.com/office/drawing/2014/main" id="{14CBB350-890A-4DCF-9785-7AB3DA10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645D4"/>
                </a:solidFill>
              </a:defRPr>
            </a:pPr>
            <a:r>
              <a:rPr sz="1125" b="1">
                <a:solidFill>
                  <a:srgbClr val="5645D4"/>
                </a:solidFill>
              </a:rPr>
              <a:t>01 · ACCEDER</a:t>
            </a:r>
          </a:p>
        </p:txBody>
      </p:sp>
      <p:sp>
        <p:nvSpPr>
          <p:cNvPr id="76" name="other-title-0">
            <a:extLst xmlns:a="http://schemas.openxmlformats.org/drawingml/2006/main">
              <a:ext uri="{FF2B5EF4-FFF2-40B4-BE49-F238E27FC236}">
                <a16:creationId xmlns:a16="http://schemas.microsoft.com/office/drawing/2014/main" id="{71FD5ACF-674F-4470-BB52-C577E578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1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C1A18"/>
                </a:solidFill>
              </a:defRPr>
            </a:pPr>
            <a:r>
              <a:rPr sz="1575" b="1">
                <a:solidFill>
                  <a:srgbClr val="1C1A18"/>
                </a:solidFill>
              </a:rPr>
              <a:t>Autenticación</a:t>
            </a:r>
          </a:p>
        </p:txBody>
      </p:sp>
      <p:sp>
        <p:nvSpPr>
          <p:cNvPr id="77" name="other-body-0">
            <a:extLst xmlns:a="http://schemas.openxmlformats.org/drawingml/2006/main">
              <a:ext uri="{FF2B5EF4-FFF2-40B4-BE49-F238E27FC236}">
                <a16:creationId xmlns:a16="http://schemas.microsoft.com/office/drawing/2014/main" id="{FEF46DCB-8A9E-441B-8EED-88B92EDC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93100"/>
            <a:ext cx="312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Restringe el acceso a analistas autorizados y sitúa la identidad KeyOps antes del formulario.</a:t>
            </a:r>
          </a:p>
        </p:txBody>
      </p:sp>
      <p:sp>
        <p:nvSpPr>
          <p:cNvPr id="78" name="Descargar credenciales-shadow">
            <a:extLst xmlns:a="http://schemas.openxmlformats.org/drawingml/2006/main">
              <a:ext uri="{FF2B5EF4-FFF2-40B4-BE49-F238E27FC236}">
                <a16:creationId xmlns:a16="http://schemas.microsoft.com/office/drawing/2014/main" id="{86DC9B3E-EE48-4998-A607-15BBEF48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6611600"/>
            <a:ext cx="1733550" cy="351472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9262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57bf5b0514b5f"/>
          <a:stretch xmlns:a="http://schemas.openxmlformats.org/drawingml/2006/main"/>
        </p:blipFill>
        <p:spPr>
          <a:xfrm xmlns:a="http://schemas.openxmlformats.org/drawingml/2006/main">
            <a:off x="5862373" y="16668750"/>
            <a:ext cx="1610254" cy="3400425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80" name="other-code-1">
            <a:extLst xmlns:a="http://schemas.openxmlformats.org/drawingml/2006/main">
              <a:ext uri="{FF2B5EF4-FFF2-40B4-BE49-F238E27FC236}">
                <a16:creationId xmlns:a16="http://schemas.microsoft.com/office/drawing/2014/main" id="{E5E62B63-9901-406D-8C6F-6E31E7E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288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645D4"/>
                </a:solidFill>
              </a:defRPr>
            </a:pPr>
            <a:r>
              <a:rPr sz="1125" b="1">
                <a:solidFill>
                  <a:srgbClr val="5645D4"/>
                </a:solidFill>
              </a:rPr>
              <a:t>03 · ENTREGAR</a:t>
            </a:r>
          </a:p>
        </p:txBody>
      </p:sp>
      <p:sp>
        <p:nvSpPr>
          <p:cNvPr id="81" name="other-title-1">
            <a:extLst xmlns:a="http://schemas.openxmlformats.org/drawingml/2006/main">
              <a:ext uri="{FF2B5EF4-FFF2-40B4-BE49-F238E27FC236}">
                <a16:creationId xmlns:a16="http://schemas.microsoft.com/office/drawing/2014/main" id="{3CE86E1F-B961-45B6-A41C-3E81BBD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61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C1A18"/>
                </a:solidFill>
              </a:defRPr>
            </a:pPr>
            <a:r>
              <a:rPr sz="1575" b="1">
                <a:solidFill>
                  <a:srgbClr val="1C1A18"/>
                </a:solidFill>
              </a:rPr>
              <a:t>Descargar credenciales</a:t>
            </a:r>
          </a:p>
        </p:txBody>
      </p:sp>
      <p:sp>
        <p:nvSpPr>
          <p:cNvPr id="82" name="other-body-1">
            <a:extLst xmlns:a="http://schemas.openxmlformats.org/drawingml/2006/main">
              <a:ext uri="{FF2B5EF4-FFF2-40B4-BE49-F238E27FC236}">
                <a16:creationId xmlns:a16="http://schemas.microsoft.com/office/drawing/2014/main" id="{B27AB8A4-ABB2-4A39-A6A7-D80C7D91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93100"/>
            <a:ext cx="312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Prepara la entrega mediante enlace seguro y OTP separado. El ZIP no se descarga en el móvil.</a:t>
            </a:r>
          </a:p>
        </p:txBody>
      </p:sp>
      <p:sp>
        <p:nvSpPr>
          <p:cNvPr id="83" name="Visualizar credenciales-shadow">
            <a:extLst xmlns:a="http://schemas.openxmlformats.org/drawingml/2006/main">
              <a:ext uri="{FF2B5EF4-FFF2-40B4-BE49-F238E27FC236}">
                <a16:creationId xmlns:a16="http://schemas.microsoft.com/office/drawing/2014/main" id="{FC15BB60-4F52-4D2F-BED9-E636B7D9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6611600"/>
            <a:ext cx="1733550" cy="351472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9262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6a32a9ca244c3"/>
          <a:stretch xmlns:a="http://schemas.openxmlformats.org/drawingml/2006/main"/>
        </p:blipFill>
        <p:spPr>
          <a:xfrm xmlns:a="http://schemas.openxmlformats.org/drawingml/2006/main">
            <a:off x="9953625" y="16714702"/>
            <a:ext cx="1619250" cy="3308522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85" name="other-code-2">
            <a:extLst xmlns:a="http://schemas.openxmlformats.org/drawingml/2006/main">
              <a:ext uri="{FF2B5EF4-FFF2-40B4-BE49-F238E27FC236}">
                <a16:creationId xmlns:a16="http://schemas.microsoft.com/office/drawing/2014/main" id="{75022FE7-A989-4F67-847A-B916870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288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645D4"/>
                </a:solidFill>
              </a:defRPr>
            </a:pPr>
            <a:r>
              <a:rPr sz="1125" b="1">
                <a:solidFill>
                  <a:srgbClr val="5645D4"/>
                </a:solidFill>
              </a:rPr>
              <a:t>04 · CONSULTAR</a:t>
            </a:r>
          </a:p>
        </p:txBody>
      </p:sp>
      <p:sp>
        <p:nvSpPr>
          <p:cNvPr id="86" name="other-title-2">
            <a:extLst xmlns:a="http://schemas.openxmlformats.org/drawingml/2006/main">
              <a:ext uri="{FF2B5EF4-FFF2-40B4-BE49-F238E27FC236}">
                <a16:creationId xmlns:a16="http://schemas.microsoft.com/office/drawing/2014/main" id="{94D133E5-D2D5-48CC-84FD-D9D8483A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61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C1A18"/>
                </a:solidFill>
              </a:defRPr>
            </a:pPr>
            <a:r>
              <a:rPr sz="1575" b="1">
                <a:solidFill>
                  <a:srgbClr val="1C1A18"/>
                </a:solidFill>
              </a:rPr>
              <a:t>Visualizar credenciales</a:t>
            </a:r>
          </a:p>
        </p:txBody>
      </p:sp>
      <p:sp>
        <p:nvSpPr>
          <p:cNvPr id="87" name="other-body-2">
            <a:extLst xmlns:a="http://schemas.openxmlformats.org/drawingml/2006/main">
              <a:ext uri="{FF2B5EF4-FFF2-40B4-BE49-F238E27FC236}">
                <a16:creationId xmlns:a16="http://schemas.microsoft.com/office/drawing/2014/main" id="{C292022F-560D-40B7-8CC2-7A199611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93100"/>
            <a:ext cx="312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Muestra Client ID, estado e historial. El Client Secret nunca aparece, ni siquiera enmascarado.</a:t>
            </a:r>
          </a:p>
        </p:txBody>
      </p:sp>
      <p:sp>
        <p:nvSpPr>
          <p:cNvPr id="88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DEB7A5D7-FA85-4848-A75F-AF64623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1A18"/>
                </a:solidFill>
              </a:defRPr>
            </a:pPr>
            <a:r>
              <a:rPr sz="2025" b="1">
                <a:solidFill>
                  <a:srgbClr val="1C1A18"/>
                </a:solidFill>
              </a:rPr>
              <a:t>CÓMO LO HEMOS HECHO</a:t>
            </a:r>
          </a:p>
        </p:txBody>
      </p:sp>
      <p:sp>
        <p:nvSpPr>
          <p:cNvPr id="89" name="method-subtitle">
            <a:extLst xmlns:a="http://schemas.openxmlformats.org/drawingml/2006/main">
              <a:ext uri="{FF2B5EF4-FFF2-40B4-BE49-F238E27FC236}">
                <a16:creationId xmlns:a16="http://schemas.microsoft.com/office/drawing/2014/main" id="{7462B135-1C72-4F2E-9C71-C765DC04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980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A645A"/>
                </a:solidFill>
              </a:defRPr>
            </a:pPr>
            <a:r>
              <a:rPr sz="1200" b="1">
                <a:solidFill>
                  <a:srgbClr val="6A645A"/>
                </a:solidFill>
              </a:rPr>
              <a:t>SPEC Y DISEÑO COMO CONTRATO · DESVIACIONES CORREGIDAS EN V4</a:t>
            </a:r>
          </a:p>
        </p:txBody>
      </p:sp>
      <p:sp>
        <p:nvSpPr>
          <p:cNvPr id="90" name="method-spec-card">
            <a:extLst xmlns:a="http://schemas.openxmlformats.org/drawingml/2006/main">
              <a:ext uri="{FF2B5EF4-FFF2-40B4-BE49-F238E27FC236}">
                <a16:creationId xmlns:a16="http://schemas.microsoft.com/office/drawing/2014/main" id="{BD35D261-89F4-41E9-AA74-CE2CBAD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0"/>
            <a:ext cx="3714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91" name="method-spec-index">
            <a:extLst xmlns:a="http://schemas.openxmlformats.org/drawingml/2006/main">
              <a:ext uri="{FF2B5EF4-FFF2-40B4-BE49-F238E27FC236}">
                <a16:creationId xmlns:a16="http://schemas.microsoft.com/office/drawing/2014/main" id="{7666091F-806F-4E22-9BDB-EE4FAA11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31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45D4"/>
                </a:solidFill>
              </a:defRPr>
            </a:pPr>
            <a:r>
              <a:rPr sz="1200" b="1">
                <a:solidFill>
                  <a:srgbClr val="5645D4"/>
                </a:solidFill>
              </a:rPr>
              <a:t>01</a:t>
            </a:r>
          </a:p>
        </p:txBody>
      </p:sp>
      <p:sp>
        <p:nvSpPr>
          <p:cNvPr id="92" name="method-spec-title">
            <a:extLst xmlns:a="http://schemas.openxmlformats.org/drawingml/2006/main">
              <a:ext uri="{FF2B5EF4-FFF2-40B4-BE49-F238E27FC236}">
                <a16:creationId xmlns:a16="http://schemas.microsoft.com/office/drawing/2014/main" id="{5BAA5F1A-3A63-49FC-BFFF-33FA290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838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A18"/>
                </a:solidFill>
              </a:defRPr>
            </a:pPr>
            <a:r>
              <a:rPr sz="1500" b="1">
                <a:solidFill>
                  <a:srgbClr val="1C1A18"/>
                </a:solidFill>
              </a:rPr>
              <a:t>La spec define el comportamiento</a:t>
            </a:r>
          </a:p>
        </p:txBody>
      </p:sp>
      <p:sp>
        <p:nvSpPr>
          <p:cNvPr id="93" name="method-spec-body">
            <a:extLst xmlns:a="http://schemas.openxmlformats.org/drawingml/2006/main">
              <a:ext uri="{FF2B5EF4-FFF2-40B4-BE49-F238E27FC236}">
                <a16:creationId xmlns:a16="http://schemas.microsoft.com/office/drawing/2014/main" id="{765C03DD-C44A-4D70-8975-3E11AB0D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887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Actores, permisos, estados, seguridad y criterios de éxito se fijan antes de decidir la interfaz.</a:t>
            </a:r>
          </a:p>
        </p:txBody>
      </p:sp>
      <p:sp>
        <p:nvSpPr>
          <p:cNvPr id="94" name="method-design-card">
            <a:extLst xmlns:a="http://schemas.openxmlformats.org/drawingml/2006/main">
              <a:ext uri="{FF2B5EF4-FFF2-40B4-BE49-F238E27FC236}">
                <a16:creationId xmlns:a16="http://schemas.microsoft.com/office/drawing/2014/main" id="{0CF7F005-F045-4B82-BF91-029BF8D7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860000"/>
            <a:ext cx="3714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95" name="method-design-index">
            <a:extLst xmlns:a="http://schemas.openxmlformats.org/drawingml/2006/main">
              <a:ext uri="{FF2B5EF4-FFF2-40B4-BE49-F238E27FC236}">
                <a16:creationId xmlns:a16="http://schemas.microsoft.com/office/drawing/2014/main" id="{36730449-D1BF-4487-A74E-D095AE66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031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45D4"/>
                </a:solidFill>
              </a:defRPr>
            </a:pPr>
            <a:r>
              <a:rPr sz="1200" b="1">
                <a:solidFill>
                  <a:srgbClr val="5645D4"/>
                </a:solidFill>
              </a:rPr>
              <a:t>02</a:t>
            </a:r>
          </a:p>
        </p:txBody>
      </p:sp>
      <p:sp>
        <p:nvSpPr>
          <p:cNvPr id="96" name="method-design-title">
            <a:extLst xmlns:a="http://schemas.openxmlformats.org/drawingml/2006/main">
              <a:ext uri="{FF2B5EF4-FFF2-40B4-BE49-F238E27FC236}">
                <a16:creationId xmlns:a16="http://schemas.microsoft.com/office/drawing/2014/main" id="{4D332E51-8936-4A29-A2A7-CC39F81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838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A18"/>
                </a:solidFill>
              </a:defRPr>
            </a:pPr>
            <a:r>
              <a:rPr sz="1500" b="1">
                <a:solidFill>
                  <a:srgbClr val="1C1A18"/>
                </a:solidFill>
              </a:rPr>
              <a:t>Un solo DESIGN.md</a:t>
            </a:r>
          </a:p>
        </p:txBody>
      </p:sp>
      <p:sp>
        <p:nvSpPr>
          <p:cNvPr id="97" name="method-design-body">
            <a:extLst xmlns:a="http://schemas.openxmlformats.org/drawingml/2006/main">
              <a:ext uri="{FF2B5EF4-FFF2-40B4-BE49-F238E27FC236}">
                <a16:creationId xmlns:a16="http://schemas.microsoft.com/office/drawing/2014/main" id="{2CC60DB6-329E-49C6-B1D1-DC529D2D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887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La misma identidad, los mismos tokens y las mismas reglas móviles gobiernan las cuatro pantallas.</a:t>
            </a:r>
          </a:p>
        </p:txBody>
      </p:sp>
      <p:sp>
        <p:nvSpPr>
          <p:cNvPr id="98" name="method-v4-card">
            <a:extLst xmlns:a="http://schemas.openxmlformats.org/drawingml/2006/main">
              <a:ext uri="{FF2B5EF4-FFF2-40B4-BE49-F238E27FC236}">
                <a16:creationId xmlns:a16="http://schemas.microsoft.com/office/drawing/2014/main" id="{5C1F9D54-102E-4C68-A940-E637CFCA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0"/>
            <a:ext cx="3714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3C6"/>
            </a:solidFill>
            <a:prstDash val="solid"/>
          </a:ln>
        </p:spPr>
      </p:sp>
      <p:sp>
        <p:nvSpPr>
          <p:cNvPr id="99" name="method-v4-index">
            <a:extLst xmlns:a="http://schemas.openxmlformats.org/drawingml/2006/main">
              <a:ext uri="{FF2B5EF4-FFF2-40B4-BE49-F238E27FC236}">
                <a16:creationId xmlns:a16="http://schemas.microsoft.com/office/drawing/2014/main" id="{05C6B47C-B4EF-4344-9732-4ABC2265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31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45D4"/>
                </a:solidFill>
              </a:defRPr>
            </a:pPr>
            <a:r>
              <a:rPr sz="1200" b="1">
                <a:solidFill>
                  <a:srgbClr val="5645D4"/>
                </a:solidFill>
              </a:rPr>
              <a:t>03</a:t>
            </a:r>
          </a:p>
        </p:txBody>
      </p:sp>
      <p:sp>
        <p:nvSpPr>
          <p:cNvPr id="100" name="method-v4-title">
            <a:extLst xmlns:a="http://schemas.openxmlformats.org/drawingml/2006/main">
              <a:ext uri="{FF2B5EF4-FFF2-40B4-BE49-F238E27FC236}">
                <a16:creationId xmlns:a16="http://schemas.microsoft.com/office/drawing/2014/main" id="{BF294C85-F0A6-4774-B991-9E3EC189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838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1A18"/>
                </a:solidFill>
              </a:defRPr>
            </a:pPr>
            <a:r>
              <a:rPr sz="1500" b="1">
                <a:solidFill>
                  <a:srgbClr val="1C1A18"/>
                </a:solidFill>
              </a:rPr>
              <a:t>La V4 corrige las desviaciones</a:t>
            </a:r>
          </a:p>
        </p:txBody>
      </p:sp>
      <p:sp>
        <p:nvSpPr>
          <p:cNvPr id="101" name="method-v4-body">
            <a:extLst xmlns:a="http://schemas.openxmlformats.org/drawingml/2006/main">
              <a:ext uri="{FF2B5EF4-FFF2-40B4-BE49-F238E27FC236}">
                <a16:creationId xmlns:a16="http://schemas.microsoft.com/office/drawing/2014/main" id="{235D1B23-B1B4-4481-AD9A-672EE59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887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149"/>
                </a:solidFill>
              </a:defRPr>
            </a:pPr>
            <a:r>
              <a:rPr sz="1200" b="0">
                <a:solidFill>
                  <a:srgbClr val="575149"/>
                </a:solidFill>
              </a:rPr>
              <a:t>Elimina tokens visibles, mezcla de idiomas, Client Secret y descarga local; separa enlace y OTP.</a:t>
            </a:r>
          </a:p>
        </p:txBody>
      </p:sp>
      <p:sp>
        <p:nvSpPr>
          <p:cNvPr id="102" name="purpose-card">
            <a:extLst xmlns:a="http://schemas.openxmlformats.org/drawingml/2006/main">
              <a:ext uri="{FF2B5EF4-FFF2-40B4-BE49-F238E27FC236}">
                <a16:creationId xmlns:a16="http://schemas.microsoft.com/office/drawing/2014/main" id="{E5D8871B-B1CA-4537-96F0-83A8ED50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0"/>
            <a:ext cx="571500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9525">
            <a:solidFill>
              <a:srgbClr val="5645D4"/>
            </a:solidFill>
            <a:prstDash val="solid"/>
          </a:ln>
        </p:spPr>
      </p:sp>
      <p:sp>
        <p:nvSpPr>
          <p:cNvPr id="103" name="purpose-title">
            <a:extLst xmlns:a="http://schemas.openxmlformats.org/drawingml/2006/main">
              <a:ext uri="{FF2B5EF4-FFF2-40B4-BE49-F238E27FC236}">
                <a16:creationId xmlns:a16="http://schemas.microsoft.com/office/drawing/2014/main" id="{A6195D76-904F-451B-8CA5-9D867F44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88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645D4"/>
                </a:solidFill>
              </a:defRPr>
            </a:pPr>
            <a:r>
              <a:rPr sz="1425" b="1">
                <a:solidFill>
                  <a:srgbClr val="5645D4"/>
                </a:solidFill>
              </a:rPr>
              <a:t>PARA QUÉ</a:t>
            </a:r>
          </a:p>
        </p:txBody>
      </p:sp>
      <p:sp>
        <p:nvSpPr>
          <p:cNvPr id="104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FE122216-916B-4358-8C82-38444822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0"/>
            <a:ext cx="5219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8"/>
                </a:solidFill>
              </a:defRPr>
            </a:pPr>
            <a:r>
              <a:rPr sz="1350" b="0">
                <a:solidFill>
                  <a:srgbClr val="1C1A18"/>
                </a:solidFill>
              </a:rPr>
              <a:t>Dar autonomía segura a los analistas para emitir, renovar y entregar credenciales API sin depender de la disponibilidad del equipo técnico, manteniendo control y trazabilidad.</a:t>
            </a:r>
          </a:p>
        </p:txBody>
      </p:sp>
      <p:sp>
        <p:nvSpPr>
          <p:cNvPr id="105" name="validation-card">
            <a:extLst xmlns:a="http://schemas.openxmlformats.org/drawingml/2006/main">
              <a:ext uri="{FF2B5EF4-FFF2-40B4-BE49-F238E27FC236}">
                <a16:creationId xmlns:a16="http://schemas.microsoft.com/office/drawing/2014/main" id="{DE19BAF2-332B-4810-B137-1DDF5D0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241250"/>
            <a:ext cx="571500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9525">
            <a:solidFill>
              <a:srgbClr val="5645D4"/>
            </a:solidFill>
            <a:prstDash val="solid"/>
          </a:ln>
        </p:spPr>
      </p:sp>
      <p:sp>
        <p:nvSpPr>
          <p:cNvPr id="106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7BAF3E64-A757-404C-9167-440303AC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488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645D4"/>
                </a:solidFill>
              </a:defRPr>
            </a:pPr>
            <a:r>
              <a:rPr sz="1425" b="1">
                <a:solidFill>
                  <a:srgbClr val="5645D4"/>
                </a:solidFill>
              </a:rPr>
              <a:t>CÓMO SE VALIDARÁ</a:t>
            </a:r>
          </a:p>
        </p:txBody>
      </p:sp>
      <p:sp>
        <p:nvSpPr>
          <p:cNvPr id="107" name="validation-body">
            <a:extLst xmlns:a="http://schemas.openxmlformats.org/drawingml/2006/main">
              <a:ext uri="{FF2B5EF4-FFF2-40B4-BE49-F238E27FC236}">
                <a16:creationId xmlns:a16="http://schemas.microsoft.com/office/drawing/2014/main" id="{84C6EAF7-2960-4CDA-98AA-80E295D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0"/>
            <a:ext cx="5219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8"/>
                </a:solidFill>
              </a:defRPr>
            </a:pPr>
            <a:r>
              <a:rPr sz="1350" b="0">
                <a:solidFill>
                  <a:srgbClr val="1C1A18"/>
                </a:solidFill>
              </a:rPr>
              <a:t>Piloto: reducir ≥50 % el tiempo de ciclo y ≥30 % el coste operativo; alcanzar ≥80 % de adopción y satisfacción; auditar el 100 % de las operaciones P1.</a:t>
            </a:r>
          </a:p>
        </p:txBody>
      </p:sp>
      <p:sp>
        <p:nvSpPr>
          <p:cNvPr id="10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90C4E65-CC14-4EB0-B9E8-A1A478C4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98700"/>
            <a:ext cx="1177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55BB3DD-B5D7-4D91-9F6C-09CD5A0D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606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45A"/>
                </a:solidFill>
              </a:defRPr>
            </a:pPr>
            <a:r>
              <a:rPr sz="1125" b="0">
                <a:solidFill>
                  <a:srgbClr val="6A645A"/>
                </a:solidFill>
              </a:rPr>
              <a:t>Escuadrón 04 · KeyOps · VIBERANO'26</a:t>
            </a:r>
          </a:p>
        </p:txBody>
      </p:sp>
      <p:sp>
        <p:nvSpPr>
          <p:cNvPr id="1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970E65A-3623-4BA7-A5F8-D41D10C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60625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645D4"/>
                </a:solidFill>
              </a:defRPr>
            </a:pPr>
            <a:r>
              <a:rPr sz="1125" b="0">
                <a:solidFill>
                  <a:srgbClr val="5645D4"/>
                </a:solidFill>
              </a:rPr>
              <a:t>spec.md · DESIGN.md · V4 final</a:t>
            </a:r>
          </a:p>
        </p:txBody>
      </p:sp>
    </p:spTree>
    <p:extLst>
      <p:ext uri="{BB962C8B-B14F-4D97-AF65-F5344CB8AC3E}">
        <p14:creationId xmlns:p14="http://schemas.microsoft.com/office/powerpoint/2010/main" val="144214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2026-08-05T09:05:13.0850000Z</dcterms:created>
  <dcterms:modified xsi:type="dcterms:W3CDTF">2026-08-05T09:05:13.0850000Z</dcterms:modified>
</coreProperties>
</file>