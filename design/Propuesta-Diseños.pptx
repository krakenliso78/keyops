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fb6f279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5fb6f279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5fb6f27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5fb6f27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fb6f279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5fb6f279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fb6f279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5fb6f279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fb6f279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fb6f279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5fb6f279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5fb6f279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5fb6f279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5fb6f279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5fb6f279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5fb6f279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5fb6f279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5fb6f279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5fb6f279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5fb6f279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5fb6f279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5fb6f279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5fb6f279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5fb6f279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5fb6f279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5fb6f279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Diseño de pantallas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7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/>
              <a:t>Gestión de credenciales para aplicaciones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/>
              <a:t>Herramienta IA utilizada Gemini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u="sng"/>
              <a:t>Descripción</a:t>
            </a:r>
            <a:r>
              <a:rPr lang="es-419" sz="1100" u="sng"/>
              <a:t>:</a:t>
            </a:r>
            <a:r>
              <a:rPr lang="es-419" sz="1100"/>
              <a:t> una aplicación que permita a los analistas emitir, renovar y controlar credenciales API de forma autónoma, segura y trazable, sin depender del acceso directo del equipo técnico a la base de datos.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/>
              <a:t>El objetivo de negocio es reducir el tiempo de ciclo de emisión o renovación por certificado y demostrar, mediante un piloto, la reducción del coste operativo por credencial gestionada.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Versión 1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145668" cy="48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7" name="Google Shape;67;p15"/>
          <p:cNvSpPr txBox="1"/>
          <p:nvPr/>
        </p:nvSpPr>
        <p:spPr>
          <a:xfrm>
            <a:off x="2430250" y="152400"/>
            <a:ext cx="6366900" cy="3259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100">
                <a:solidFill>
                  <a:schemeClr val="dk1"/>
                </a:solidFill>
              </a:rPr>
              <a:t>Pantalla 1: Autenticación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Esta pantalla debe restringir el acceso solo a analistas autorizados.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Encabezado:</a:t>
            </a:r>
            <a:r>
              <a:rPr lang="es-419" sz="1100">
                <a:solidFill>
                  <a:schemeClr val="dk1"/>
                </a:solidFill>
              </a:rPr>
              <a:t> Centrado en la parte superior, se incluirá el logotipo de la plataforma utilizando el archivo </a:t>
            </a:r>
            <a:r>
              <a:rPr b="1" lang="es-419" sz="1100">
                <a:solidFill>
                  <a:schemeClr val="dk1"/>
                </a:solidFill>
              </a:rPr>
              <a:t>Gemini_Generated_Image_8dba398dba398dba_2.png</a:t>
            </a:r>
            <a:r>
              <a:rPr lang="es-419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Título:</a:t>
            </a:r>
            <a:r>
              <a:rPr lang="es-419" sz="1100">
                <a:solidFill>
                  <a:schemeClr val="dk1"/>
                </a:solidFill>
              </a:rPr>
              <a:t> "Iniciar sesión" con tipografía </a:t>
            </a:r>
            <a:r>
              <a:rPr lang="es-419" sz="1100">
                <a:solidFill>
                  <a:srgbClr val="188038"/>
                </a:solidFill>
              </a:rPr>
              <a:t>{typography.heading-2}</a:t>
            </a:r>
            <a:r>
              <a:rPr lang="es-419" sz="1100">
                <a:solidFill>
                  <a:schemeClr val="dk1"/>
                </a:solidFill>
              </a:rPr>
              <a:t> (36px, Semibold) y color texto </a:t>
            </a:r>
            <a:r>
              <a:rPr lang="es-419" sz="1100">
                <a:solidFill>
                  <a:srgbClr val="188038"/>
                </a:solidFill>
              </a:rPr>
              <a:t>{colors.ink}</a:t>
            </a:r>
            <a:r>
              <a:rPr lang="es-419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Subtítulo:</a:t>
            </a:r>
            <a:r>
              <a:rPr lang="es-419" sz="1100">
                <a:solidFill>
                  <a:schemeClr val="dk1"/>
                </a:solidFill>
              </a:rPr>
              <a:t> "Acceso restringido a analistas autorizados." con tipografía </a:t>
            </a:r>
            <a:r>
              <a:rPr lang="es-419" sz="1100">
                <a:solidFill>
                  <a:srgbClr val="188038"/>
                </a:solidFill>
              </a:rPr>
              <a:t>{typography.body-sm}</a:t>
            </a:r>
            <a:r>
              <a:rPr lang="es-419" sz="1100">
                <a:solidFill>
                  <a:schemeClr val="dk1"/>
                </a:solidFill>
              </a:rPr>
              <a:t> en color </a:t>
            </a:r>
            <a:r>
              <a:rPr lang="es-419" sz="1100">
                <a:solidFill>
                  <a:srgbClr val="188038"/>
                </a:solidFill>
              </a:rPr>
              <a:t>{colors.slate}</a:t>
            </a:r>
            <a:r>
              <a:rPr lang="es-419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Formulario: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Campo </a:t>
            </a:r>
            <a:r>
              <a:rPr b="1" lang="es-419" sz="1100">
                <a:solidFill>
                  <a:schemeClr val="dk1"/>
                </a:solidFill>
              </a:rPr>
              <a:t>Usuario</a:t>
            </a:r>
            <a:r>
              <a:rPr lang="es-419" sz="1100">
                <a:solidFill>
                  <a:schemeClr val="dk1"/>
                </a:solidFill>
              </a:rPr>
              <a:t>: Componente </a:t>
            </a:r>
            <a:r>
              <a:rPr lang="es-419" sz="1100">
                <a:solidFill>
                  <a:srgbClr val="188038"/>
                </a:solidFill>
              </a:rPr>
              <a:t>{components.text-input}</a:t>
            </a:r>
            <a:r>
              <a:rPr lang="es-419" sz="1100">
                <a:solidFill>
                  <a:schemeClr val="dk1"/>
                </a:solidFill>
              </a:rPr>
              <a:t> (borde sutil de 1px).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Campo </a:t>
            </a:r>
            <a:r>
              <a:rPr b="1" lang="es-419" sz="1100">
                <a:solidFill>
                  <a:schemeClr val="dk1"/>
                </a:solidFill>
              </a:rPr>
              <a:t>Contraseña</a:t>
            </a:r>
            <a:r>
              <a:rPr lang="es-419" sz="1100">
                <a:solidFill>
                  <a:schemeClr val="dk1"/>
                </a:solidFill>
              </a:rPr>
              <a:t>: Componente </a:t>
            </a:r>
            <a:r>
              <a:rPr lang="es-419" sz="1100">
                <a:solidFill>
                  <a:srgbClr val="188038"/>
                </a:solidFill>
              </a:rPr>
              <a:t>{components.text-input}</a:t>
            </a:r>
            <a:r>
              <a:rPr lang="es-419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Llamado a la acción (CTA):</a:t>
            </a:r>
            <a:r>
              <a:rPr lang="es-419" sz="1100">
                <a:solidFill>
                  <a:schemeClr val="dk1"/>
                </a:solidFill>
              </a:rPr>
              <a:t> Botón ancho completo "Ingresar". Usará el componente </a:t>
            </a:r>
            <a:r>
              <a:rPr lang="es-419" sz="1100">
                <a:solidFill>
                  <a:srgbClr val="188038"/>
                </a:solidFill>
              </a:rPr>
              <a:t>{components.button-primary}</a:t>
            </a:r>
            <a:r>
              <a:rPr lang="es-419" sz="1100">
                <a:solidFill>
                  <a:schemeClr val="dk1"/>
                </a:solidFill>
              </a:rPr>
              <a:t> con el color característico de la marca </a:t>
            </a:r>
            <a:r>
              <a:rPr lang="es-419" sz="1100">
                <a:solidFill>
                  <a:srgbClr val="188038"/>
                </a:solidFill>
              </a:rPr>
              <a:t>{colors.primary}</a:t>
            </a:r>
            <a:r>
              <a:rPr lang="es-419" sz="1100">
                <a:solidFill>
                  <a:schemeClr val="dk1"/>
                </a:solidFill>
              </a:rPr>
              <a:t> (#5645d4) y texto blanco.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Pie de página:</a:t>
            </a:r>
            <a:r>
              <a:rPr lang="es-419" sz="1100">
                <a:solidFill>
                  <a:schemeClr val="dk1"/>
                </a:solidFill>
              </a:rPr>
              <a:t> Texto de ayuda o recuperación de clave en color </a:t>
            </a:r>
            <a:r>
              <a:rPr lang="es-419" sz="1100">
                <a:solidFill>
                  <a:srgbClr val="188038"/>
                </a:solidFill>
              </a:rPr>
              <a:t>{colors.link-blue}</a:t>
            </a:r>
            <a:r>
              <a:rPr lang="es-419" sz="1100">
                <a:solidFill>
                  <a:schemeClr val="dk1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2430250" y="152400"/>
            <a:ext cx="6366900" cy="442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Pantalla 2: Listado de Credenciales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1"/>
                </a:solidFill>
              </a:rPr>
              <a:t>Esta pantalla muestra las aplicaciones y su estado, adaptándose al ambiente seleccionado.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Navegación Superior: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Menú hamburguesa a la izquierda y título "Aplicaciones y credenciales".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Selector de Ambiente: Un control de pestañas (</a:t>
            </a:r>
            <a:r>
              <a:rPr lang="es-419" sz="1100">
                <a:solidFill>
                  <a:srgbClr val="188038"/>
                </a:solidFill>
              </a:rPr>
              <a:t>segmented-tab</a:t>
            </a:r>
            <a:r>
              <a:rPr lang="es-419" sz="1100">
                <a:solidFill>
                  <a:schemeClr val="dk1"/>
                </a:solidFill>
              </a:rPr>
              <a:t>) con las opciones "PRUEBAS" y "PRODUCCIÓN". Por defecto estará seleccionado "PRUEBAS".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Filtros y Búsqueda: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Barra de búsqueda superior usando el componente </a:t>
            </a:r>
            <a:r>
              <a:rPr lang="es-419" sz="1100">
                <a:solidFill>
                  <a:srgbClr val="188038"/>
                </a:solidFill>
              </a:rPr>
              <a:t>{components.search-pill}</a:t>
            </a:r>
            <a:r>
              <a:rPr lang="es-419" sz="1100">
                <a:solidFill>
                  <a:schemeClr val="dk1"/>
                </a:solidFill>
              </a:rPr>
              <a:t> para buscar por ID, Institución o Aplicación.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Lista de Aplicaciones (Tarjetas):</a:t>
            </a:r>
            <a:r>
              <a:rPr lang="es-419" sz="1100">
                <a:solidFill>
                  <a:schemeClr val="dk1"/>
                </a:solidFill>
              </a:rPr>
              <a:t> Cada aplicación será un </a:t>
            </a:r>
            <a:r>
              <a:rPr lang="es-419" sz="1100">
                <a:solidFill>
                  <a:srgbClr val="188038"/>
                </a:solidFill>
              </a:rPr>
              <a:t>{components.card-base}</a:t>
            </a:r>
            <a:r>
              <a:rPr lang="es-419" sz="1100">
                <a:solidFill>
                  <a:schemeClr val="dk1"/>
                </a:solidFill>
              </a:rPr>
              <a:t> (fondo blanco, borde sutil, radio de 12px).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s-419" sz="1100">
                <a:solidFill>
                  <a:schemeClr val="dk1"/>
                </a:solidFill>
              </a:rPr>
              <a:t>Cabecera de tarjeta:</a:t>
            </a:r>
            <a:r>
              <a:rPr lang="es-419" sz="1100">
                <a:solidFill>
                  <a:schemeClr val="dk1"/>
                </a:solidFill>
              </a:rPr>
              <a:t> Nombre de la "Institución" (ej. Ministerio de Salud) y "Aplicación" (ej. Pago en Línea).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s-419" sz="1100">
                <a:solidFill>
                  <a:schemeClr val="dk1"/>
                </a:solidFill>
              </a:rPr>
              <a:t>Estado:</a:t>
            </a:r>
            <a:r>
              <a:rPr lang="es-419" sz="1100">
                <a:solidFill>
                  <a:schemeClr val="dk1"/>
                </a:solidFill>
              </a:rPr>
              <a:t> Representado con etiquetas (</a:t>
            </a:r>
            <a:r>
              <a:rPr lang="es-419" sz="1100">
                <a:solidFill>
                  <a:srgbClr val="188038"/>
                </a:solidFill>
              </a:rPr>
              <a:t>badge</a:t>
            </a:r>
            <a:r>
              <a:rPr lang="es-419" sz="1100">
                <a:solidFill>
                  <a:schemeClr val="dk1"/>
                </a:solidFill>
              </a:rPr>
              <a:t>). Si está "Generada" se usa </a:t>
            </a:r>
            <a:r>
              <a:rPr lang="es-419" sz="1100">
                <a:solidFill>
                  <a:srgbClr val="188038"/>
                </a:solidFill>
              </a:rPr>
              <a:t>{components.badge-tag-green}</a:t>
            </a:r>
            <a:r>
              <a:rPr lang="es-419" sz="1100">
                <a:solidFill>
                  <a:schemeClr val="dk1"/>
                </a:solidFill>
              </a:rPr>
              <a:t>. Si está "Suspendida" se usa </a:t>
            </a:r>
            <a:r>
              <a:rPr lang="es-419" sz="1100">
                <a:solidFill>
                  <a:srgbClr val="188038"/>
                </a:solidFill>
              </a:rPr>
              <a:t>{components.badge-tag-orange}</a:t>
            </a:r>
            <a:r>
              <a:rPr lang="es-419" sz="1100">
                <a:solidFill>
                  <a:schemeClr val="dk1"/>
                </a:solidFill>
              </a:rPr>
              <a:t>. Si está "No generada", un badge gris neutro.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s-419" sz="1100">
                <a:solidFill>
                  <a:schemeClr val="dk1"/>
                </a:solidFill>
              </a:rPr>
              <a:t>Metadatos:</a:t>
            </a:r>
            <a:r>
              <a:rPr lang="es-419" sz="1100">
                <a:solidFill>
                  <a:schemeClr val="dk1"/>
                </a:solidFill>
              </a:rPr>
              <a:t> Rol de la aplicación y fecha de actualización en tipografía </a:t>
            </a:r>
            <a:r>
              <a:rPr lang="es-419" sz="1100">
                <a:solidFill>
                  <a:srgbClr val="188038"/>
                </a:solidFill>
              </a:rPr>
              <a:t>{typography.caption}</a:t>
            </a:r>
            <a:r>
              <a:rPr lang="es-419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s-419" sz="1100">
                <a:solidFill>
                  <a:schemeClr val="dk1"/>
                </a:solidFill>
              </a:rPr>
              <a:t>Acciones:</a:t>
            </a:r>
            <a:r>
              <a:rPr lang="es-419" sz="1100">
                <a:solidFill>
                  <a:schemeClr val="dk1"/>
                </a:solidFill>
              </a:rPr>
              <a:t> En la parte inferior de la tarjeta. Un botón primario acorde al estado (ej. "Generar" si no existe), y un botón secundario de tres puntos (</a:t>
            </a:r>
            <a:r>
              <a:rPr lang="es-419" sz="1100">
                <a:solidFill>
                  <a:srgbClr val="188038"/>
                </a:solidFill>
              </a:rPr>
              <a:t>button-secondary</a:t>
            </a:r>
            <a:r>
              <a:rPr lang="es-419" sz="1100">
                <a:solidFill>
                  <a:schemeClr val="dk1"/>
                </a:solidFill>
              </a:rPr>
              <a:t>) para abrir el menú de opciones (Suspender, Re-generar, Revocar).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66528" cy="48386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2430250" y="152400"/>
            <a:ext cx="6366900" cy="306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Pantalla 3: Descargar Credenciales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1"/>
                </a:solidFill>
              </a:rPr>
              <a:t>Se accede a esta pantalla (o modal de fondo completo en móvil) al elegir la acción "Descargar" o "Generar y descargar".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Encabezado:</a:t>
            </a:r>
            <a:r>
              <a:rPr lang="es-419" sz="1100">
                <a:solidFill>
                  <a:schemeClr val="dk1"/>
                </a:solidFill>
              </a:rPr>
              <a:t> Botón "Volver" (</a:t>
            </a:r>
            <a:r>
              <a:rPr lang="es-419" sz="1100">
                <a:solidFill>
                  <a:srgbClr val="188038"/>
                </a:solidFill>
              </a:rPr>
              <a:t>button-ghost</a:t>
            </a:r>
            <a:r>
              <a:rPr lang="es-419" sz="1100">
                <a:solidFill>
                  <a:schemeClr val="dk1"/>
                </a:solidFill>
              </a:rPr>
              <a:t>) y Título "Descargar Credenciales".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Tarjeta de Información (</a:t>
            </a:r>
            <a:r>
              <a:rPr b="1" lang="es-419" sz="1100">
                <a:solidFill>
                  <a:srgbClr val="188038"/>
                </a:solidFill>
              </a:rPr>
              <a:t>card-feature-lavender</a:t>
            </a:r>
            <a:r>
              <a:rPr b="1" lang="es-419" sz="1100">
                <a:solidFill>
                  <a:schemeClr val="dk1"/>
                </a:solidFill>
              </a:rPr>
              <a:t>):</a:t>
            </a:r>
            <a:r>
              <a:rPr lang="es-419" sz="1100">
                <a:solidFill>
                  <a:schemeClr val="dk1"/>
                </a:solidFill>
              </a:rPr>
              <a:t> Un bloque de fondo color pastel (</a:t>
            </a:r>
            <a:r>
              <a:rPr lang="es-419" sz="1100">
                <a:solidFill>
                  <a:srgbClr val="188038"/>
                </a:solidFill>
              </a:rPr>
              <a:t>#e6e0f5</a:t>
            </a:r>
            <a:r>
              <a:rPr lang="es-419" sz="1100">
                <a:solidFill>
                  <a:schemeClr val="dk1"/>
                </a:solidFill>
              </a:rPr>
              <a:t>) para destacar los datos críticos que requiere el formulario: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Institución y Aplicación.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Rol asignado y si es aplicación transversal.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ID de Solicitud e IP's autorizadas.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Sección de Contacto Técnico:</a:t>
            </a:r>
            <a:r>
              <a:rPr lang="es-419" sz="1100">
                <a:solidFill>
                  <a:schemeClr val="dk1"/>
                </a:solidFill>
              </a:rPr>
              <a:t> Muestra Nombre, Correo y Teléfono del contacto.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Aviso de Seguridad:</a:t>
            </a:r>
            <a:r>
              <a:rPr lang="es-419" sz="1100">
                <a:solidFill>
                  <a:schemeClr val="dk1"/>
                </a:solidFill>
              </a:rPr>
              <a:t> Un cuadro de texto informativo con ícono indicando que "Se descargará un archivo comprimido con contraseña".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Acción Principal:</a:t>
            </a:r>
            <a:r>
              <a:rPr lang="es-419" sz="1100">
                <a:solidFill>
                  <a:schemeClr val="dk1"/>
                </a:solidFill>
              </a:rPr>
              <a:t> Botón fijo en la parte inferior de la pantalla (</a:t>
            </a:r>
            <a:r>
              <a:rPr lang="es-419" sz="1100">
                <a:solidFill>
                  <a:srgbClr val="188038"/>
                </a:solidFill>
              </a:rPr>
              <a:t>button-primary</a:t>
            </a:r>
            <a:r>
              <a:rPr lang="es-419" sz="1100">
                <a:solidFill>
                  <a:schemeClr val="dk1"/>
                </a:solidFill>
              </a:rPr>
              <a:t>) con el texto "Descargar .ZIP".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125450" cy="47624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2430250" y="152400"/>
            <a:ext cx="6366900" cy="3259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Pantalla 4: Visualizar Credenciales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1"/>
                </a:solidFill>
              </a:rPr>
              <a:t>Se accede para ver la contraseña en pantalla sin descargar el archivo.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Encabezado:</a:t>
            </a:r>
            <a:r>
              <a:rPr lang="es-419" sz="1100">
                <a:solidFill>
                  <a:schemeClr val="dk1"/>
                </a:solidFill>
              </a:rPr>
              <a:t> Botón "Volver" y Título "Visualizar Credenciales".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Bloque de Credencial (</a:t>
            </a:r>
            <a:r>
              <a:rPr b="1" lang="es-419" sz="1100">
                <a:solidFill>
                  <a:srgbClr val="188038"/>
                </a:solidFill>
              </a:rPr>
              <a:t>card-feature-yellow</a:t>
            </a:r>
            <a:r>
              <a:rPr b="1" lang="es-419" sz="1100">
                <a:solidFill>
                  <a:schemeClr val="dk1"/>
                </a:solidFill>
              </a:rPr>
              <a:t>):</a:t>
            </a:r>
            <a:r>
              <a:rPr lang="es-419" sz="1100">
                <a:solidFill>
                  <a:schemeClr val="dk1"/>
                </a:solidFill>
              </a:rPr>
              <a:t> Utilizando un fondo amarillo suave (</a:t>
            </a:r>
            <a:r>
              <a:rPr lang="es-419" sz="1100">
                <a:solidFill>
                  <a:srgbClr val="188038"/>
                </a:solidFill>
              </a:rPr>
              <a:t>#fef7d6</a:t>
            </a:r>
            <a:r>
              <a:rPr lang="es-419" sz="1100">
                <a:solidFill>
                  <a:schemeClr val="dk1"/>
                </a:solidFill>
              </a:rPr>
              <a:t>) para advertir que es información sensible.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Label: "Contraseña / Secret API".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Campo de texto: Muestra asteriscos por defecto (••••••••).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Botones laterales dentro del campo: Ícono de "Ojo" (para alternar visibilidad) y botón "Copiar" (</a:t>
            </a:r>
            <a:r>
              <a:rPr lang="es-419" sz="1100">
                <a:solidFill>
                  <a:srgbClr val="188038"/>
                </a:solidFill>
              </a:rPr>
              <a:t>button-secondary</a:t>
            </a:r>
            <a:r>
              <a:rPr lang="es-419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Historial de Estados (Auditoría):</a:t>
            </a:r>
            <a:r>
              <a:rPr lang="es-419" sz="1100">
                <a:solidFill>
                  <a:schemeClr val="dk1"/>
                </a:solidFill>
              </a:rPr>
              <a:t> Como requiere el documento, se debe mostrar el historial de cambios.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Título: "Historial de la solicitud" (</a:t>
            </a:r>
            <a:r>
              <a:rPr lang="es-419" sz="1100">
                <a:solidFill>
                  <a:srgbClr val="188038"/>
                </a:solidFill>
              </a:rPr>
              <a:t>typography.heading-4</a:t>
            </a:r>
            <a:r>
              <a:rPr lang="es-419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Línea de tiempo vertical sencilla. Cada ítem mostrará: Fecha de cambio, ID de solicitud, Estado Inicial y Estado Final. El texto usará </a:t>
            </a:r>
            <a:r>
              <a:rPr lang="es-419" sz="1100">
                <a:solidFill>
                  <a:srgbClr val="188038"/>
                </a:solidFill>
              </a:rPr>
              <a:t>typography.body-sm</a:t>
            </a:r>
            <a:r>
              <a:rPr lang="es-419" sz="1100">
                <a:solidFill>
                  <a:schemeClr val="dk1"/>
                </a:solidFill>
              </a:rPr>
              <a:t> con color </a:t>
            </a:r>
            <a:r>
              <a:rPr lang="es-419" sz="1100">
                <a:solidFill>
                  <a:srgbClr val="188038"/>
                </a:solidFill>
              </a:rPr>
              <a:t>colors.slate</a:t>
            </a:r>
            <a:r>
              <a:rPr lang="es-419" sz="1100">
                <a:solidFill>
                  <a:schemeClr val="dk1"/>
                </a:solidFill>
              </a:rPr>
              <a:t>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106001" cy="48387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Versión 2</a:t>
            </a:r>
            <a:endParaRPr/>
          </a:p>
        </p:txBody>
      </p:sp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/>
        </p:nvSpPr>
        <p:spPr>
          <a:xfrm>
            <a:off x="2430250" y="152400"/>
            <a:ext cx="6366900" cy="334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</a:rPr>
              <a:t>1. Pantalla de Autenticación (Login)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Mejoras y Mejores Prácticas: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Diseño de Alta Seguridad:</a:t>
            </a:r>
            <a:r>
              <a:rPr lang="es-419" sz="1100">
                <a:solidFill>
                  <a:schemeClr val="dk1"/>
                </a:solidFill>
              </a:rPr>
              <a:t> Uso de una banda de cabecera azul marino (</a:t>
            </a:r>
            <a:r>
              <a:rPr lang="es-419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hero-band-dark</a:t>
            </a:r>
            <a:r>
              <a:rPr lang="es-419" sz="1100">
                <a:solidFill>
                  <a:schemeClr val="dk1"/>
                </a:solidFill>
              </a:rPr>
              <a:t>) para transmitir confianza y seguridad desde el primer contacto.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Inputs Rectangulares Sencillos:</a:t>
            </a:r>
            <a:r>
              <a:rPr lang="es-419" sz="1100">
                <a:solidFill>
                  <a:schemeClr val="dk1"/>
                </a:solidFill>
              </a:rPr>
              <a:t> Evitamos formas complejas o redondeadas innecesarias en los campos de login para mantener un tono profesional y sobrio ({rounded.md}).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CTA Dominante:</a:t>
            </a:r>
            <a:r>
              <a:rPr lang="es-419" sz="1100">
                <a:solidFill>
                  <a:schemeClr val="dk1"/>
                </a:solidFill>
              </a:rPr>
              <a:t> El botón "Iniciar Sesión" utiliza el morado de la marca ({colors.primary}), destacando claramente la acción principal.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Elementos Clave: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Logo:</a:t>
            </a:r>
            <a:r>
              <a:rPr lang="es-419" sz="1100">
                <a:solidFill>
                  <a:schemeClr val="dk1"/>
                </a:solidFill>
              </a:rPr>
              <a:t> Ubicado en la banda azul superior.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Inputs:</a:t>
            </a:r>
            <a:r>
              <a:rPr lang="es-419" sz="1100">
                <a:solidFill>
                  <a:schemeClr val="dk1"/>
                </a:solidFill>
              </a:rPr>
              <a:t> Correo Electrónico y Contraseña (estilo rectangular {text-input}).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Botón:</a:t>
            </a:r>
            <a:r>
              <a:rPr lang="es-419" sz="1100">
                <a:solidFill>
                  <a:schemeClr val="dk1"/>
                </a:solidFill>
              </a:rPr>
              <a:t> Morado rectangular ({button-primary}).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Links:</a:t>
            </a:r>
            <a:r>
              <a:rPr lang="es-419" sz="1100">
                <a:solidFill>
                  <a:schemeClr val="dk1"/>
                </a:solidFill>
              </a:rPr>
              <a:t> "Olvidé mi contraseña" y "Soporte Técnico" en azul ({button-link}).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125450" cy="400311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/>
        </p:nvSpPr>
        <p:spPr>
          <a:xfrm>
            <a:off x="2430250" y="152400"/>
            <a:ext cx="6366900" cy="3925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</a:rPr>
              <a:t>Listado de Credenciales (Credentials List)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Mejoras y Mejores Prácticas: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Diseño de Tarjetas Claras:</a:t>
            </a:r>
            <a:r>
              <a:rPr lang="es-419" sz="1100">
                <a:solidFill>
                  <a:schemeClr val="dk1"/>
                </a:solidFill>
              </a:rPr>
              <a:t> Cada credencial se presenta en una tarjeta ({card-base}) que agrupa la información de la institución, la aplicación y el rol asignado. Esto facilita la lectura en pantallas verticales.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Tabs de Entorno:</a:t>
            </a:r>
            <a:r>
              <a:rPr lang="es-419" sz="1100">
                <a:solidFill>
                  <a:schemeClr val="dk1"/>
                </a:solidFill>
              </a:rPr>
              <a:t> Integración de tabs segmentados ({segmented-tab}) para cambiar rápidamente entre entornos de Producción y Pruebas, una práctica estándar en la gestión de claves API.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Acciones Contextuales Claros:</a:t>
            </a:r>
            <a:r>
              <a:rPr lang="es-419" sz="1100">
                <a:solidFill>
                  <a:schemeClr val="dk1"/>
                </a:solidFill>
              </a:rPr>
              <a:t> En lugar de saturar la pantalla con botones, cada tarjeta incluye iconos directos y bien espaciados para "Ver", "Descargar" y "Revocar".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Elementos Clave: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Header:</a:t>
            </a:r>
            <a:r>
              <a:rPr lang="es-419" sz="1100">
                <a:solidFill>
                  <a:schemeClr val="dk1"/>
                </a:solidFill>
              </a:rPr>
              <a:t> Hamburger menu, Logo y Campana de notificaciones.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Banda Pastel:</a:t>
            </a:r>
            <a:r>
              <a:rPr lang="es-419" sz="1100">
                <a:solidFill>
                  <a:schemeClr val="dk1"/>
                </a:solidFill>
              </a:rPr>
              <a:t> Cabecera en tono lavanda ({card-tint-lavender}) con el título.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Filtros:</a:t>
            </a:r>
            <a:r>
              <a:rPr lang="es-419" sz="1100">
                <a:solidFill>
                  <a:schemeClr val="dk1"/>
                </a:solidFill>
              </a:rPr>
              <a:t> Barra de búsqueda ({search-pill}) y Tabs de Entorno.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Tarjetas de Credencial:</a:t>
            </a:r>
            <a:r>
              <a:rPr lang="es-419" sz="1100">
                <a:solidFill>
                  <a:schemeClr val="dk1"/>
                </a:solidFill>
              </a:rPr>
              <a:t> Incluyen Institución, Aplicación, Rol (tag morada {badge-tag-purple}), Expiración, Analista Asignado y Estado ({badge-purple}).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125450" cy="4111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2430250" y="152400"/>
            <a:ext cx="6366900" cy="392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</a:rPr>
              <a:t>Pantalla para Descargar Credenciales (Credential Download Screen)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Mejoras y Mejores Prácticas: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Enfoque de Seguridad:</a:t>
            </a:r>
            <a:r>
              <a:rPr lang="es-419" sz="1100">
                <a:solidFill>
                  <a:schemeClr val="dk1"/>
                </a:solidFill>
              </a:rPr>
              <a:t> Esta pantalla está diseñada como una experiencia enfocada y segura. Se descarga un archivo ZIP protegido, no la clave directamente, siguiendo la sugerencia de mejores prácticas.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Contexto de la Clave:</a:t>
            </a:r>
            <a:r>
              <a:rPr lang="es-419" sz="1100">
                <a:solidFill>
                  <a:schemeClr val="dk1"/>
                </a:solidFill>
              </a:rPr>
              <a:t> Antes de la descarga, se presenta un resumen claro de qué credencial se está descargando (Institución, Aplicación, Rol) en un bloque ligeramente tintado ({card-feature-sky}) para evitar errores.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Registro de Auditoría:</a:t>
            </a:r>
            <a:r>
              <a:rPr lang="es-419" sz="1100">
                <a:solidFill>
                  <a:schemeClr val="dk1"/>
                </a:solidFill>
              </a:rPr>
              <a:t> Se incluye un historial de descargas recientes para esta clave específica, mostrando qué analista la descargó y cuándo, mejorando la trazabilidad.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Elementos Clave: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Banda Azul Marino:</a:t>
            </a:r>
            <a:r>
              <a:rPr lang="es-419" sz="1100">
                <a:solidFill>
                  <a:schemeClr val="dk1"/>
                </a:solidFill>
              </a:rPr>
              <a:t> Título "Descarga Segura de Credencial".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Resumen de Clave:</a:t>
            </a:r>
            <a:r>
              <a:rPr lang="es-419" sz="1100">
                <a:solidFill>
                  <a:schemeClr val="dk1"/>
                </a:solidFill>
              </a:rPr>
              <a:t> Bloque sky-blue ({card-feature-sky}).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Aviso de Seguridad:</a:t>
            </a:r>
            <a:r>
              <a:rPr lang="es-419" sz="1100">
                <a:solidFill>
                  <a:schemeClr val="dk1"/>
                </a:solidFill>
              </a:rPr>
              <a:t> Nota clara sobre el archivo ZIP protegido.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Botón de Descarga:</a:t>
            </a:r>
            <a:r>
              <a:rPr lang="es-419" sz="1100">
                <a:solidFill>
                  <a:schemeClr val="dk1"/>
                </a:solidFill>
              </a:rPr>
              <a:t> Botón negro rectangular ({button-dark}) para descargar el archivo ZIP.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Historial:</a:t>
            </a:r>
            <a:r>
              <a:rPr lang="es-419" sz="1100">
                <a:solidFill>
                  <a:schemeClr val="dk1"/>
                </a:solidFill>
              </a:rPr>
              <a:t> Lista estructurada ({components.comparison-table}) de descargas previas.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125450" cy="4096322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/>
        </p:nvSpPr>
        <p:spPr>
          <a:xfrm>
            <a:off x="2430250" y="152400"/>
            <a:ext cx="6366900" cy="412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chemeClr val="dk1"/>
                </a:solidFill>
              </a:rPr>
              <a:t>Pantalla para Visualizar Credenciales (Credential Visualization Screen)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Mejoras y Mejores Prácticas: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Seguridad Frente a Mirones:</a:t>
            </a:r>
            <a:r>
              <a:rPr lang="es-419" sz="1100">
                <a:solidFill>
                  <a:schemeClr val="dk1"/>
                </a:solidFill>
              </a:rPr>
              <a:t> Por defecto, el Secreto del Cliente (Client Secret) está enmascarado (********). El usuario debe hacer clic en "Revelar" para verlo, una práctica esencial para evitar que alguien vea la clave por encima del hombro (shoulder surfing).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Acciones Directas Enmascaradas:</a:t>
            </a:r>
            <a:r>
              <a:rPr lang="es-419" sz="1100">
                <a:solidFill>
                  <a:schemeClr val="dk1"/>
                </a:solidFill>
              </a:rPr>
              <a:t> Los botones de "Revelar" y "Copiar" están integrados dentro del campo de visualización, facilitando la copia segura al portapapeles sin mostrar la clave permanentemente.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Información Contextual y Acción Crítica:</a:t>
            </a:r>
            <a:r>
              <a:rPr lang="es-419" sz="1100">
                <a:solidFill>
                  <a:schemeClr val="dk1"/>
                </a:solidFill>
              </a:rPr>
              <a:t> Muestra todos los detalles relevantes y, crucialmente, incluye un botón de acción rápida para "Revocar Credencial" en caso de sospecha de compromiso.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Elementos Clave: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Banda Pastel:</a:t>
            </a:r>
            <a:r>
              <a:rPr lang="es-419" sz="1100">
                <a:solidFill>
                  <a:schemeClr val="dk1"/>
                </a:solidFill>
              </a:rPr>
              <a:t> Título "Visualización Segura de Credencial" en tono rosa ({card-tint-rose}).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Resumen de Clave:</a:t>
            </a:r>
            <a:r>
              <a:rPr lang="es-419" sz="1100">
                <a:solidFill>
                  <a:schemeClr val="dk1"/>
                </a:solidFill>
              </a:rPr>
              <a:t> Bloque peach-tinted ({card-feature-peach}) con detalles completos.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Visualización Segura:</a:t>
            </a:r>
            <a:r>
              <a:rPr lang="es-419" sz="1100">
                <a:solidFill>
                  <a:schemeClr val="dk1"/>
                </a:solidFill>
              </a:rPr>
              <a:t> Campo de Secreto enmascarado con botones integrados de "Revelar" y "Copiar".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Acción Crítica:</a:t>
            </a:r>
            <a:r>
              <a:rPr lang="es-419" sz="1100">
                <a:solidFill>
                  <a:schemeClr val="dk1"/>
                </a:solidFill>
              </a:rPr>
              <a:t> Botón para "Revocar Credencial".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125449" cy="4101841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ctrTitle"/>
          </p:nvPr>
        </p:nvSpPr>
        <p:spPr>
          <a:xfrm>
            <a:off x="311700" y="744575"/>
            <a:ext cx="8520600" cy="67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Versión 3</a:t>
            </a:r>
            <a:endParaRPr/>
          </a:p>
        </p:txBody>
      </p:sp>
      <p:sp>
        <p:nvSpPr>
          <p:cNvPr id="121" name="Google Shape;121;p24"/>
          <p:cNvSpPr txBox="1"/>
          <p:nvPr>
            <p:ph idx="1" type="subTitle"/>
          </p:nvPr>
        </p:nvSpPr>
        <p:spPr>
          <a:xfrm>
            <a:off x="212950" y="1543925"/>
            <a:ext cx="8520600" cy="30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solidFill>
                  <a:schemeClr val="dk1"/>
                </a:solidFill>
              </a:rPr>
              <a:t>He realizado el diseño de las cuatro pantallas móviles solicitadas (Autenticación, Listado de Credenciales, Descargar Credenciales y Visualizar Credenciales), integrando el logotipo de KeyOps y siguiendo estrictamente el sistema de diseño de "sober rectangular geometry" y la voz de marca ilustrada detallada en </a:t>
            </a:r>
            <a:r>
              <a:rPr lang="es-419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design.md</a:t>
            </a:r>
            <a:r>
              <a:rPr lang="es-419" sz="1000">
                <a:solidFill>
                  <a:schemeClr val="dk1"/>
                </a:solidFill>
              </a:rPr>
              <a:t>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s-419" sz="1000">
                <a:solidFill>
                  <a:schemeClr val="dk1"/>
                </a:solidFill>
              </a:rPr>
              <a:t>Pantalla 1 (Autenticación):</a:t>
            </a:r>
            <a:r>
              <a:rPr lang="es-419" sz="1000">
                <a:solidFill>
                  <a:schemeClr val="dk1"/>
                </a:solidFill>
              </a:rPr>
              <a:t> Incluye la banda heroica azul marino profunda con decoraciones de puntos de notas adhesivas y mallas metálicas, y una maqueta del producto en vivo (kanban) que se rompe de la banda. El formulario utiliza campos y botones rectangulares (morado primario) con el texto solicitado.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s-419" sz="1000">
                <a:solidFill>
                  <a:schemeClr val="dk1"/>
                </a:solidFill>
              </a:rPr>
              <a:t>Pantalla 2 (Listado):</a:t>
            </a:r>
            <a:r>
              <a:rPr lang="es-419" sz="1000">
                <a:solidFill>
                  <a:schemeClr val="dk1"/>
                </a:solidFill>
              </a:rPr>
              <a:t> Presenta el conmutador de entorno (PRUEBAS activo por defecto), títulos Notion-Sans en cascada y tarjetas de credencial individuales con etiquetas de estado y acciones agrupadas. Un CTA dominante "+ Generar credenciales" se sitúa en la parte inferior.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s-419" sz="1000">
                <a:solidFill>
                  <a:schemeClr val="dk1"/>
                </a:solidFill>
              </a:rPr>
              <a:t>Pantalla 3 (Descargar):</a:t>
            </a:r>
            <a:r>
              <a:rPr lang="es-419" sz="1000">
                <a:solidFill>
                  <a:schemeClr val="dk1"/>
                </a:solidFill>
              </a:rPr>
              <a:t> Un flujo workflow con una tarjeta de características teñida de azul pastel (</a:t>
            </a:r>
            <a:r>
              <a:rPr lang="es-419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card-feature-sky</a:t>
            </a:r>
            <a:r>
              <a:rPr lang="es-419" sz="1000">
                <a:solidFill>
                  <a:schemeClr val="dk1"/>
                </a:solidFill>
              </a:rPr>
              <a:t>) que resume la credencial y la información de seguridad para la descarga del archivo ZIP.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s-419" sz="1000">
                <a:solidFill>
                  <a:schemeClr val="dk1"/>
                </a:solidFill>
              </a:rPr>
              <a:t>Pantalla 4 (Visualizar):</a:t>
            </a:r>
            <a:r>
              <a:rPr lang="es-419" sz="1000">
                <a:solidFill>
                  <a:schemeClr val="dk1"/>
                </a:solidFill>
              </a:rPr>
              <a:t> Una vista segura y de alta confianza con la tarjeta de credenciales de la API enmascarada (con opción de revelado) y una línea de tiempo histórica para el cambio de estado, enriquecida sutilmente con las ilustraciones atmosféricas de mallas metálicas.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0350" y="152400"/>
            <a:ext cx="2300491" cy="4838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7" name="Google Shape;12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2" y="152400"/>
            <a:ext cx="2281539" cy="4838701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456" y="84000"/>
            <a:ext cx="2365416" cy="4838701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3" name="Google Shape;13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1975" y="84000"/>
            <a:ext cx="2256491" cy="4838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